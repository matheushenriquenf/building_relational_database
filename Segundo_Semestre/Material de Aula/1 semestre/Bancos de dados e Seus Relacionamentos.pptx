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4"/>
  </p:sldMasterIdLst>
  <p:notesMasterIdLst>
    <p:notesMasterId r:id="rId13"/>
  </p:notesMasterIdLst>
  <p:sldIdLst>
    <p:sldId id="294" r:id="rId5"/>
    <p:sldId id="295" r:id="rId6"/>
    <p:sldId id="297" r:id="rId7"/>
    <p:sldId id="298" r:id="rId8"/>
    <p:sldId id="299" r:id="rId9"/>
    <p:sldId id="300" r:id="rId10"/>
    <p:sldId id="301" r:id="rId11"/>
    <p:sldId id="30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A03C64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46E16E-A57E-474F-810E-0EC9E96B4FBE}" v="25" dt="2023-11-01T17:17:53.6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3" d="100"/>
          <a:sy n="73" d="100"/>
        </p:scale>
        <p:origin x="4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F363F2-35D9-463B-9434-DD95CD619908}" type="datetimeFigureOut">
              <a:rPr lang="pt-BR" smtClean="0"/>
              <a:t>06/11/2023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203657-B93B-47A0-A988-1D3D915882D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8374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C55BD2-FBEE-2B43-BCA3-95F743A4C724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0512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C55BD2-FBEE-2B43-BCA3-95F743A4C724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71413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C55BD2-FBEE-2B43-BCA3-95F743A4C724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4684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C55BD2-FBEE-2B43-BCA3-95F743A4C724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29536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C55BD2-FBEE-2B43-BCA3-95F743A4C724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92780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C55BD2-FBEE-2B43-BCA3-95F743A4C724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32009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C55BD2-FBEE-2B43-BCA3-95F743A4C724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30351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C55BD2-FBEE-2B43-BCA3-95F743A4C724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0066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go +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7534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2"/>
            <a:ext cx="12192000" cy="6864351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0475" t="-31201" b="-62954"/>
          <a:stretch/>
        </p:blipFill>
        <p:spPr>
          <a:xfrm>
            <a:off x="11176001" y="279400"/>
            <a:ext cx="711199" cy="30479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" y="3"/>
            <a:ext cx="12180721" cy="68580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01" y="278672"/>
            <a:ext cx="11588600" cy="6272437"/>
          </a:xfrm>
          <a:prstGeom prst="rect">
            <a:avLst/>
          </a:prstGeom>
        </p:spPr>
      </p:pic>
      <p:pic>
        <p:nvPicPr>
          <p:cNvPr id="16" name="Imagem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61367" y="2851616"/>
            <a:ext cx="4269268" cy="1148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772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" y="3"/>
            <a:ext cx="12180721" cy="68580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00" y="292781"/>
            <a:ext cx="11588600" cy="6272437"/>
          </a:xfrm>
          <a:prstGeom prst="rect">
            <a:avLst/>
          </a:prstGeom>
        </p:spPr>
      </p:pic>
      <p:sp>
        <p:nvSpPr>
          <p:cNvPr id="2" name="CaixaDeTexto 2">
            <a:extLst>
              <a:ext uri="{FF2B5EF4-FFF2-40B4-BE49-F238E27FC236}">
                <a16:creationId xmlns:a16="http://schemas.microsoft.com/office/drawing/2014/main" id="{1892A6BA-9EE2-D650-2BB5-05E45CFFEF89}"/>
              </a:ext>
            </a:extLst>
          </p:cNvPr>
          <p:cNvSpPr txBox="1"/>
          <p:nvPr/>
        </p:nvSpPr>
        <p:spPr>
          <a:xfrm>
            <a:off x="1341120" y="1022186"/>
            <a:ext cx="9143999" cy="3951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sz="3200" b="1" cap="all" dirty="0">
                <a:solidFill>
                  <a:srgbClr val="FF0066"/>
                </a:solidFill>
                <a:latin typeface="Gotham HTF Light"/>
                <a:cs typeface="+mj-cs"/>
              </a:rPr>
              <a:t>Agenda</a:t>
            </a:r>
          </a:p>
          <a:p>
            <a:endParaRPr lang="pt-BR" dirty="0">
              <a:solidFill>
                <a:schemeClr val="bg1"/>
              </a:solidFill>
            </a:endParaRPr>
          </a:p>
          <a:p>
            <a:r>
              <a:rPr lang="pt-BR" sz="2800" dirty="0">
                <a:solidFill>
                  <a:schemeClr val="bg1"/>
                </a:solidFill>
              </a:rPr>
              <a:t>Objetivos da aula</a:t>
            </a:r>
          </a:p>
          <a:p>
            <a:r>
              <a:rPr lang="pt-BR" sz="2800" dirty="0">
                <a:solidFill>
                  <a:schemeClr val="bg1"/>
                </a:solidFill>
              </a:rPr>
              <a:t>Contextualização da importância dos bancos de dados</a:t>
            </a:r>
          </a:p>
          <a:p>
            <a:r>
              <a:rPr lang="pt-BR" sz="2800" dirty="0">
                <a:solidFill>
                  <a:schemeClr val="bg1"/>
                </a:solidFill>
              </a:rPr>
              <a:t>Modelagem de dados</a:t>
            </a:r>
          </a:p>
          <a:p>
            <a:r>
              <a:rPr lang="pt-BR" sz="2800" dirty="0">
                <a:solidFill>
                  <a:schemeClr val="bg1"/>
                </a:solidFill>
              </a:rPr>
              <a:t>Chaves Primárias e Estrangeiras</a:t>
            </a:r>
          </a:p>
          <a:p>
            <a:r>
              <a:rPr lang="pt-BR" sz="2800" dirty="0">
                <a:solidFill>
                  <a:schemeClr val="bg1"/>
                </a:solidFill>
              </a:rPr>
              <a:t>Tipos de relacionamentos:1:1, 1:N, N:N</a:t>
            </a:r>
          </a:p>
          <a:p>
            <a:r>
              <a:rPr lang="pt-BR" sz="2800" dirty="0">
                <a:solidFill>
                  <a:schemeClr val="bg1"/>
                </a:solidFill>
              </a:rPr>
              <a:t>Normalização de dados e seus benefícios</a:t>
            </a:r>
          </a:p>
          <a:p>
            <a:endParaRPr lang="pt-BR" dirty="0">
              <a:solidFill>
                <a:schemeClr val="bg1"/>
              </a:solidFill>
            </a:endParaRPr>
          </a:p>
          <a:p>
            <a:endParaRPr lang="pt-B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7433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" y="3"/>
            <a:ext cx="12180721" cy="68580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00" y="292781"/>
            <a:ext cx="11588600" cy="62724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5349C6C-74D6-0929-4648-D69686D05C42}"/>
              </a:ext>
            </a:extLst>
          </p:cNvPr>
          <p:cNvSpPr txBox="1"/>
          <p:nvPr/>
        </p:nvSpPr>
        <p:spPr>
          <a:xfrm>
            <a:off x="3585029" y="1320799"/>
            <a:ext cx="46697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rgbClr val="FF0066"/>
                </a:solidFill>
              </a:rPr>
              <a:t>Objetivo da Aula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F960F0-5A34-1FE8-A692-ACFB3508BBBF}"/>
              </a:ext>
            </a:extLst>
          </p:cNvPr>
          <p:cNvSpPr txBox="1"/>
          <p:nvPr/>
        </p:nvSpPr>
        <p:spPr>
          <a:xfrm>
            <a:off x="881287" y="2075241"/>
            <a:ext cx="972865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>
                <a:solidFill>
                  <a:schemeClr val="bg1"/>
                </a:solidFill>
              </a:rPr>
              <a:t>Esta aula tem como objetivo realizar práticas de banco dados referente ao modelagem de dados e seus relacionamentos.  </a:t>
            </a:r>
          </a:p>
          <a:p>
            <a:pPr algn="just"/>
            <a:r>
              <a:rPr lang="pt-BR" sz="2400" dirty="0">
                <a:solidFill>
                  <a:schemeClr val="bg1"/>
                </a:solidFill>
              </a:rPr>
              <a:t>Iremos abordar temas como o que é uma entidade, um atributos, chaves primarias, chaves estrangerias, cardinalidade e os relacionamentos de tabelas.</a:t>
            </a:r>
          </a:p>
        </p:txBody>
      </p:sp>
    </p:spTree>
    <p:extLst>
      <p:ext uri="{BB962C8B-B14F-4D97-AF65-F5344CB8AC3E}">
        <p14:creationId xmlns:p14="http://schemas.microsoft.com/office/powerpoint/2010/main" val="3907276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" y="3"/>
            <a:ext cx="12180721" cy="68580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00" y="292781"/>
            <a:ext cx="11588600" cy="62724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697AEE4-2BF4-BC90-DFE6-A6DC354ADCE4}"/>
              </a:ext>
            </a:extLst>
          </p:cNvPr>
          <p:cNvSpPr txBox="1"/>
          <p:nvPr/>
        </p:nvSpPr>
        <p:spPr>
          <a:xfrm>
            <a:off x="682326" y="765300"/>
            <a:ext cx="92454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rgbClr val="FF0066"/>
                </a:solidFill>
              </a:rPr>
              <a:t>Por que banco de dados é Importante e Quais suas Vantagens?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DD880B-466A-BEE8-BC76-DA0D3390B64B}"/>
              </a:ext>
            </a:extLst>
          </p:cNvPr>
          <p:cNvSpPr txBox="1"/>
          <p:nvPr/>
        </p:nvSpPr>
        <p:spPr>
          <a:xfrm>
            <a:off x="1267097" y="1699483"/>
            <a:ext cx="7610077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2000" b="0" i="0" dirty="0">
                <a:solidFill>
                  <a:schemeClr val="bg1"/>
                </a:solidFill>
                <a:effectLst/>
                <a:latin typeface="Abadi" panose="020B0604020104020204" pitchFamily="34" charset="0"/>
              </a:rPr>
              <a:t>Otimização dos processos de negócios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pt-BR" sz="2000" b="0" i="0" dirty="0">
              <a:solidFill>
                <a:schemeClr val="bg1"/>
              </a:solidFill>
              <a:effectLst/>
              <a:latin typeface="Abadi" panose="020B0604020104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bg1"/>
                </a:solidFill>
                <a:latin typeface="Abadi" panose="020B0604020104020204" pitchFamily="34" charset="0"/>
              </a:rPr>
              <a:t>Acompanhamento dos clientes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pt-BR" sz="2000" dirty="0">
              <a:solidFill>
                <a:schemeClr val="bg1"/>
              </a:solidFill>
              <a:latin typeface="Abadi" panose="020B0604020104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bg1"/>
                </a:solidFill>
                <a:latin typeface="Abadi" panose="020B0604020104020204" pitchFamily="34" charset="0"/>
              </a:rPr>
              <a:t>Proteção das informações pessoais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pt-BR" sz="2000" dirty="0">
              <a:solidFill>
                <a:schemeClr val="bg1"/>
              </a:solidFill>
              <a:latin typeface="Abadi" panose="020B0604020104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bg1"/>
                </a:solidFill>
              </a:rPr>
              <a:t>Armazenamento</a:t>
            </a:r>
            <a:r>
              <a:rPr lang="pt-BR" sz="2000" dirty="0">
                <a:solidFill>
                  <a:schemeClr val="bg1"/>
                </a:solidFill>
                <a:latin typeface="Abadi" panose="020B0604020104020204" pitchFamily="34" charset="0"/>
              </a:rPr>
              <a:t> dos dados pessoais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pt-BR" sz="2000" dirty="0">
              <a:solidFill>
                <a:schemeClr val="bg1"/>
              </a:solidFill>
              <a:latin typeface="Abadi" panose="020B0604020104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bg1"/>
                </a:solidFill>
                <a:latin typeface="Abadi" panose="020B0604020104020204" pitchFamily="34" charset="0"/>
              </a:rPr>
              <a:t>Compartilhamento de dados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pt-BR" sz="2000" dirty="0">
              <a:solidFill>
                <a:schemeClr val="bg1"/>
              </a:solidFill>
              <a:latin typeface="Abadi" panose="020B0604020104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bg1"/>
                </a:solidFill>
                <a:latin typeface="Abadi" panose="020B0604020104020204" pitchFamily="34" charset="0"/>
              </a:rPr>
              <a:t>Ajuda na tomada de decisões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pt-BR" sz="2000" dirty="0">
              <a:solidFill>
                <a:schemeClr val="bg1"/>
              </a:solidFill>
              <a:latin typeface="Abadi" panose="020B0604020104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bg1"/>
                </a:solidFill>
                <a:latin typeface="Abadi" panose="020B0604020104020204" pitchFamily="34" charset="0"/>
              </a:rPr>
              <a:t>Acesso facilitado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pt-BR" sz="2000" dirty="0">
              <a:solidFill>
                <a:schemeClr val="bg1"/>
              </a:solidFill>
              <a:latin typeface="Abadi" panose="020B0604020104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bg1"/>
                </a:solidFill>
                <a:latin typeface="Abadi" panose="020B0604020104020204" pitchFamily="34" charset="0"/>
              </a:rPr>
              <a:t>Consistência dos dados</a:t>
            </a:r>
          </a:p>
        </p:txBody>
      </p:sp>
    </p:spTree>
    <p:extLst>
      <p:ext uri="{BB962C8B-B14F-4D97-AF65-F5344CB8AC3E}">
        <p14:creationId xmlns:p14="http://schemas.microsoft.com/office/powerpoint/2010/main" val="60381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" y="3"/>
            <a:ext cx="12180721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5E5D425-06CD-0FFA-9ACE-231720E02216}"/>
              </a:ext>
            </a:extLst>
          </p:cNvPr>
          <p:cNvSpPr txBox="1"/>
          <p:nvPr/>
        </p:nvSpPr>
        <p:spPr>
          <a:xfrm>
            <a:off x="2541194" y="1099988"/>
            <a:ext cx="46697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rgbClr val="FF0066"/>
                </a:solidFill>
              </a:rPr>
              <a:t>Modelagem de Dados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4C43D1-BC90-E8D8-3D9F-3E6A7436EEDB}"/>
              </a:ext>
            </a:extLst>
          </p:cNvPr>
          <p:cNvSpPr txBox="1"/>
          <p:nvPr/>
        </p:nvSpPr>
        <p:spPr>
          <a:xfrm>
            <a:off x="1552876" y="2030029"/>
            <a:ext cx="730374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FF0066"/>
              </a:buClr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Representação Visual</a:t>
            </a:r>
          </a:p>
          <a:p>
            <a:pPr marL="285750" indent="-285750">
              <a:buClr>
                <a:srgbClr val="FF0066"/>
              </a:buClr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</a:endParaRPr>
          </a:p>
          <a:p>
            <a:pPr marL="285750" indent="-285750">
              <a:buClr>
                <a:srgbClr val="FF0066"/>
              </a:buClr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Produtividade</a:t>
            </a:r>
          </a:p>
          <a:p>
            <a:pPr marL="285750" indent="-285750">
              <a:buClr>
                <a:srgbClr val="FF0066"/>
              </a:buClr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</a:endParaRPr>
          </a:p>
          <a:p>
            <a:pPr marL="285750" indent="-285750">
              <a:buClr>
                <a:srgbClr val="FF0066"/>
              </a:buClr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Agilidade </a:t>
            </a:r>
          </a:p>
          <a:p>
            <a:pPr marL="285750" indent="-285750">
              <a:buClr>
                <a:srgbClr val="FF0066"/>
              </a:buClr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</a:endParaRPr>
          </a:p>
          <a:p>
            <a:pPr marL="285750" indent="-285750">
              <a:buClr>
                <a:srgbClr val="FF0066"/>
              </a:buClr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Produtividade </a:t>
            </a:r>
          </a:p>
          <a:p>
            <a:pPr marL="285750" indent="-285750">
              <a:buClr>
                <a:srgbClr val="FF0066"/>
              </a:buClr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</a:endParaRPr>
          </a:p>
          <a:p>
            <a:pPr marL="285750" indent="-285750">
              <a:buClr>
                <a:srgbClr val="FF0066"/>
              </a:buClr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Volume de dados</a:t>
            </a:r>
          </a:p>
          <a:p>
            <a:pPr marL="285750" indent="-285750">
              <a:buClr>
                <a:srgbClr val="FF0066"/>
              </a:buClr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</a:endParaRPr>
          </a:p>
          <a:p>
            <a:pPr marL="285750" indent="-285750">
              <a:buClr>
                <a:srgbClr val="FF0066"/>
              </a:buClr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Simplificação</a:t>
            </a:r>
          </a:p>
          <a:p>
            <a:pPr marL="285750" indent="-285750">
              <a:buClr>
                <a:srgbClr val="FF0066"/>
              </a:buClr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</a:endParaRPr>
          </a:p>
          <a:p>
            <a:pPr marL="285750" indent="-285750">
              <a:buClr>
                <a:srgbClr val="FF0066"/>
              </a:buClr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Eliminar Redundância</a:t>
            </a:r>
          </a:p>
          <a:p>
            <a:pPr marL="285750" indent="-285750">
              <a:buClr>
                <a:srgbClr val="FF0066"/>
              </a:buClr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</a:endParaRPr>
          </a:p>
          <a:p>
            <a:pPr marL="285750" indent="-285750">
              <a:buClr>
                <a:srgbClr val="FF0066"/>
              </a:buClr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Fonte Unica</a:t>
            </a:r>
          </a:p>
        </p:txBody>
      </p:sp>
    </p:spTree>
    <p:extLst>
      <p:ext uri="{BB962C8B-B14F-4D97-AF65-F5344CB8AC3E}">
        <p14:creationId xmlns:p14="http://schemas.microsoft.com/office/powerpoint/2010/main" val="846070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" y="3"/>
            <a:ext cx="12180721" cy="68580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00" y="284201"/>
            <a:ext cx="11588600" cy="62724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8D2F7D8-3E61-739F-683D-6F4F27C427AD}"/>
              </a:ext>
            </a:extLst>
          </p:cNvPr>
          <p:cNvSpPr txBox="1"/>
          <p:nvPr/>
        </p:nvSpPr>
        <p:spPr>
          <a:xfrm>
            <a:off x="2684885" y="695040"/>
            <a:ext cx="46697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rgbClr val="FF0066"/>
                </a:solidFill>
              </a:rPr>
              <a:t>Chaves e relacionamentos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2920D5-B4AA-293F-4787-27606C7AA072}"/>
              </a:ext>
            </a:extLst>
          </p:cNvPr>
          <p:cNvSpPr txBox="1"/>
          <p:nvPr/>
        </p:nvSpPr>
        <p:spPr>
          <a:xfrm>
            <a:off x="1829149" y="1567544"/>
            <a:ext cx="609382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FF0066"/>
              </a:buClr>
              <a:buFont typeface="Wingdings" panose="05000000000000000000" pitchFamily="2" charset="2"/>
              <a:buChar char="§"/>
            </a:pPr>
            <a:r>
              <a:rPr lang="pt-BR" dirty="0">
                <a:solidFill>
                  <a:schemeClr val="bg1"/>
                </a:solidFill>
              </a:rPr>
              <a:t>Chave Primária (Primary Key)</a:t>
            </a:r>
          </a:p>
          <a:p>
            <a:pPr marL="285750" indent="-285750">
              <a:buClr>
                <a:srgbClr val="FF0066"/>
              </a:buClr>
              <a:buFont typeface="Wingdings" panose="05000000000000000000" pitchFamily="2" charset="2"/>
              <a:buChar char="§"/>
            </a:pPr>
            <a:endParaRPr lang="pt-BR" dirty="0">
              <a:solidFill>
                <a:schemeClr val="bg1"/>
              </a:solidFill>
            </a:endParaRPr>
          </a:p>
          <a:p>
            <a:pPr marL="285750" indent="-285750">
              <a:buClr>
                <a:srgbClr val="FF0066"/>
              </a:buClr>
              <a:buFont typeface="Wingdings" panose="05000000000000000000" pitchFamily="2" charset="2"/>
              <a:buChar char="§"/>
            </a:pPr>
            <a:r>
              <a:rPr lang="pt-BR" dirty="0">
                <a:solidFill>
                  <a:schemeClr val="bg1"/>
                </a:solidFill>
              </a:rPr>
              <a:t>Chave Estrangeira (</a:t>
            </a:r>
            <a:r>
              <a:rPr lang="pt-BR" dirty="0" err="1">
                <a:solidFill>
                  <a:schemeClr val="bg1"/>
                </a:solidFill>
              </a:rPr>
              <a:t>Foreign</a:t>
            </a:r>
            <a:r>
              <a:rPr lang="pt-BR" dirty="0">
                <a:solidFill>
                  <a:schemeClr val="bg1"/>
                </a:solidFill>
              </a:rPr>
              <a:t> Key)</a:t>
            </a:r>
          </a:p>
          <a:p>
            <a:pPr marL="285750" indent="-285750">
              <a:buClr>
                <a:srgbClr val="FF0066"/>
              </a:buClr>
              <a:buFont typeface="Wingdings" panose="05000000000000000000" pitchFamily="2" charset="2"/>
              <a:buChar char="§"/>
            </a:pPr>
            <a:endParaRPr lang="pt-BR" dirty="0">
              <a:solidFill>
                <a:schemeClr val="bg1"/>
              </a:solidFill>
            </a:endParaRPr>
          </a:p>
          <a:p>
            <a:pPr marL="285750" indent="-285750">
              <a:buClr>
                <a:srgbClr val="FF0066"/>
              </a:buClr>
              <a:buFont typeface="Wingdings" panose="05000000000000000000" pitchFamily="2" charset="2"/>
              <a:buChar char="§"/>
            </a:pPr>
            <a:r>
              <a:rPr lang="pt-BR" dirty="0">
                <a:solidFill>
                  <a:schemeClr val="bg1"/>
                </a:solidFill>
              </a:rPr>
              <a:t>Chave Candidata (Candidate Key)</a:t>
            </a:r>
          </a:p>
          <a:p>
            <a:pPr marL="285750" indent="-285750">
              <a:buClr>
                <a:srgbClr val="FF0066"/>
              </a:buClr>
              <a:buFont typeface="Wingdings" panose="05000000000000000000" pitchFamily="2" charset="2"/>
              <a:buChar char="§"/>
            </a:pPr>
            <a:endParaRPr lang="pt-BR" dirty="0">
              <a:solidFill>
                <a:schemeClr val="bg1"/>
              </a:solidFill>
            </a:endParaRPr>
          </a:p>
          <a:p>
            <a:pPr marL="285750" indent="-285750">
              <a:buClr>
                <a:srgbClr val="FF0066"/>
              </a:buClr>
              <a:buFont typeface="Wingdings" panose="05000000000000000000" pitchFamily="2" charset="2"/>
              <a:buChar char="§"/>
            </a:pPr>
            <a:r>
              <a:rPr lang="pt-BR" dirty="0">
                <a:solidFill>
                  <a:schemeClr val="bg1"/>
                </a:solidFill>
              </a:rPr>
              <a:t>Chave Super (Super Key)</a:t>
            </a:r>
          </a:p>
          <a:p>
            <a:pPr marL="285750" indent="-285750">
              <a:buClr>
                <a:srgbClr val="FF0066"/>
              </a:buClr>
              <a:buFont typeface="Wingdings" panose="05000000000000000000" pitchFamily="2" charset="2"/>
              <a:buChar char="§"/>
            </a:pPr>
            <a:endParaRPr lang="pt-BR" dirty="0">
              <a:solidFill>
                <a:schemeClr val="bg1"/>
              </a:solidFill>
            </a:endParaRPr>
          </a:p>
          <a:p>
            <a:pPr marL="285750" indent="-285750">
              <a:buClr>
                <a:srgbClr val="FF0066"/>
              </a:buClr>
              <a:buFont typeface="Wingdings" panose="05000000000000000000" pitchFamily="2" charset="2"/>
              <a:buChar char="§"/>
            </a:pPr>
            <a:r>
              <a:rPr lang="pt-BR" dirty="0">
                <a:solidFill>
                  <a:schemeClr val="bg1"/>
                </a:solidFill>
              </a:rPr>
              <a:t>Chave Única (Unique Key)</a:t>
            </a:r>
          </a:p>
          <a:p>
            <a:pPr marL="285750" indent="-285750">
              <a:buClr>
                <a:srgbClr val="FF0066"/>
              </a:buClr>
              <a:buFont typeface="Wingdings" panose="05000000000000000000" pitchFamily="2" charset="2"/>
              <a:buChar char="§"/>
            </a:pPr>
            <a:endParaRPr lang="pt-BR" dirty="0">
              <a:solidFill>
                <a:schemeClr val="bg1"/>
              </a:solidFill>
            </a:endParaRPr>
          </a:p>
          <a:p>
            <a:pPr marL="285750" indent="-285750">
              <a:buClr>
                <a:srgbClr val="FF0066"/>
              </a:buClr>
              <a:buFont typeface="Wingdings" panose="05000000000000000000" pitchFamily="2" charset="2"/>
              <a:buChar char="§"/>
            </a:pPr>
            <a:r>
              <a:rPr lang="pt-BR" dirty="0">
                <a:solidFill>
                  <a:schemeClr val="bg1"/>
                </a:solidFill>
              </a:rPr>
              <a:t>Chave Alternativa (</a:t>
            </a:r>
            <a:r>
              <a:rPr lang="pt-BR" dirty="0" err="1">
                <a:solidFill>
                  <a:schemeClr val="bg1"/>
                </a:solidFill>
              </a:rPr>
              <a:t>Alternate</a:t>
            </a:r>
            <a:r>
              <a:rPr lang="pt-BR" dirty="0">
                <a:solidFill>
                  <a:schemeClr val="bg1"/>
                </a:solidFill>
              </a:rPr>
              <a:t> Key)</a:t>
            </a:r>
          </a:p>
          <a:p>
            <a:pPr marL="285750" indent="-285750">
              <a:buClr>
                <a:srgbClr val="FF0066"/>
              </a:buClr>
              <a:buFont typeface="Wingdings" panose="05000000000000000000" pitchFamily="2" charset="2"/>
              <a:buChar char="§"/>
            </a:pPr>
            <a:endParaRPr lang="pt-BR" dirty="0">
              <a:solidFill>
                <a:schemeClr val="bg1"/>
              </a:solidFill>
            </a:endParaRPr>
          </a:p>
          <a:p>
            <a:pPr marL="285750" indent="-285750">
              <a:buClr>
                <a:srgbClr val="FF0066"/>
              </a:buClr>
              <a:buFont typeface="Wingdings" panose="05000000000000000000" pitchFamily="2" charset="2"/>
              <a:buChar char="§"/>
            </a:pPr>
            <a:r>
              <a:rPr lang="pt-BR" dirty="0">
                <a:solidFill>
                  <a:schemeClr val="bg1"/>
                </a:solidFill>
              </a:rPr>
              <a:t>Chave Composta (</a:t>
            </a:r>
            <a:r>
              <a:rPr lang="pt-BR" dirty="0" err="1">
                <a:solidFill>
                  <a:schemeClr val="bg1"/>
                </a:solidFill>
              </a:rPr>
              <a:t>Composite</a:t>
            </a:r>
            <a:r>
              <a:rPr lang="pt-BR" dirty="0">
                <a:solidFill>
                  <a:schemeClr val="bg1"/>
                </a:solidFill>
              </a:rPr>
              <a:t> Key)</a:t>
            </a:r>
          </a:p>
          <a:p>
            <a:pPr marL="285750" indent="-285750">
              <a:buClr>
                <a:srgbClr val="FF0066"/>
              </a:buClr>
              <a:buFont typeface="Wingdings" panose="05000000000000000000" pitchFamily="2" charset="2"/>
              <a:buChar char="§"/>
            </a:pPr>
            <a:endParaRPr lang="pt-BR" dirty="0">
              <a:solidFill>
                <a:schemeClr val="bg1"/>
              </a:solidFill>
            </a:endParaRPr>
          </a:p>
          <a:p>
            <a:pPr marL="285750" indent="-285750">
              <a:buClr>
                <a:srgbClr val="FF0066"/>
              </a:buClr>
              <a:buFont typeface="Wingdings" panose="05000000000000000000" pitchFamily="2" charset="2"/>
              <a:buChar char="§"/>
            </a:pPr>
            <a:r>
              <a:rPr lang="pt-BR" dirty="0">
                <a:solidFill>
                  <a:schemeClr val="bg1"/>
                </a:solidFill>
              </a:rPr>
              <a:t>Chave </a:t>
            </a:r>
            <a:r>
              <a:rPr lang="pt-BR" dirty="0" err="1">
                <a:solidFill>
                  <a:schemeClr val="bg1"/>
                </a:solidFill>
              </a:rPr>
              <a:t>Surrogada</a:t>
            </a:r>
            <a:r>
              <a:rPr lang="pt-BR" dirty="0">
                <a:solidFill>
                  <a:schemeClr val="bg1"/>
                </a:solidFill>
              </a:rPr>
              <a:t> (</a:t>
            </a:r>
            <a:r>
              <a:rPr lang="pt-BR" dirty="0" err="1">
                <a:solidFill>
                  <a:schemeClr val="bg1"/>
                </a:solidFill>
              </a:rPr>
              <a:t>Surrogate</a:t>
            </a:r>
            <a:r>
              <a:rPr lang="pt-BR" dirty="0">
                <a:solidFill>
                  <a:schemeClr val="bg1"/>
                </a:solidFill>
              </a:rPr>
              <a:t> Key)</a:t>
            </a:r>
          </a:p>
          <a:p>
            <a:pPr marL="285750" indent="-285750">
              <a:buClr>
                <a:srgbClr val="FF0066"/>
              </a:buClr>
              <a:buFont typeface="Wingdings" panose="05000000000000000000" pitchFamily="2" charset="2"/>
              <a:buChar char="§"/>
            </a:pPr>
            <a:endParaRPr lang="pt-BR" dirty="0">
              <a:solidFill>
                <a:schemeClr val="bg1"/>
              </a:solidFill>
            </a:endParaRPr>
          </a:p>
          <a:p>
            <a:pPr marL="285750" indent="-285750">
              <a:buClr>
                <a:srgbClr val="FF0066"/>
              </a:buClr>
              <a:buFont typeface="Wingdings" panose="05000000000000000000" pitchFamily="2" charset="2"/>
              <a:buChar char="§"/>
            </a:pPr>
            <a:r>
              <a:rPr lang="pt-BR" dirty="0">
                <a:solidFill>
                  <a:schemeClr val="bg1"/>
                </a:solidFill>
              </a:rPr>
              <a:t>Chave Natural (Natural Key). </a:t>
            </a:r>
            <a:r>
              <a:rPr lang="pt-BR" dirty="0" err="1">
                <a:solidFill>
                  <a:schemeClr val="bg1"/>
                </a:solidFill>
              </a:rPr>
              <a:t>Ex</a:t>
            </a:r>
            <a:r>
              <a:rPr lang="pt-BR" dirty="0">
                <a:solidFill>
                  <a:schemeClr val="bg1"/>
                </a:solidFill>
              </a:rPr>
              <a:t>: CPF</a:t>
            </a:r>
          </a:p>
        </p:txBody>
      </p:sp>
    </p:spTree>
    <p:extLst>
      <p:ext uri="{BB962C8B-B14F-4D97-AF65-F5344CB8AC3E}">
        <p14:creationId xmlns:p14="http://schemas.microsoft.com/office/powerpoint/2010/main" val="146645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" y="3"/>
            <a:ext cx="12180721" cy="68580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00" y="292781"/>
            <a:ext cx="11588600" cy="62724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81F42B3-A6AF-6E69-C64C-7326A317A42B}"/>
              </a:ext>
            </a:extLst>
          </p:cNvPr>
          <p:cNvSpPr txBox="1"/>
          <p:nvPr/>
        </p:nvSpPr>
        <p:spPr>
          <a:xfrm>
            <a:off x="2684885" y="695040"/>
            <a:ext cx="46697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rgbClr val="FF0066"/>
                </a:solidFill>
              </a:rPr>
              <a:t>Cardinalidade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099C22-5410-3BD9-2816-0682441DE4C5}"/>
              </a:ext>
            </a:extLst>
          </p:cNvPr>
          <p:cNvSpPr txBox="1"/>
          <p:nvPr/>
        </p:nvSpPr>
        <p:spPr>
          <a:xfrm>
            <a:off x="1191820" y="1356299"/>
            <a:ext cx="1069848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Clr>
                <a:srgbClr val="FF0066"/>
              </a:buClr>
              <a:buFont typeface="Arial" panose="020B0604020202020204" pitchFamily="34" charset="0"/>
              <a:buChar char="•"/>
            </a:pPr>
            <a:r>
              <a:rPr lang="pt-BR" b="1" i="0" dirty="0">
                <a:solidFill>
                  <a:schemeClr val="bg1"/>
                </a:solidFill>
                <a:effectLst/>
              </a:rPr>
              <a:t>Cardinalidade Um para Um (1:1)</a:t>
            </a:r>
            <a:r>
              <a:rPr lang="pt-BR" b="0" i="0" dirty="0">
                <a:solidFill>
                  <a:schemeClr val="bg1"/>
                </a:solidFill>
                <a:effectLst/>
              </a:rPr>
              <a:t>:</a:t>
            </a:r>
          </a:p>
          <a:p>
            <a:pPr algn="l">
              <a:buClr>
                <a:srgbClr val="FF0066"/>
              </a:buClr>
            </a:pPr>
            <a:endParaRPr lang="pt-BR" dirty="0">
              <a:solidFill>
                <a:schemeClr val="bg1"/>
              </a:solidFill>
            </a:endParaRPr>
          </a:p>
          <a:p>
            <a:pPr algn="l">
              <a:buClr>
                <a:srgbClr val="FF0066"/>
              </a:buClr>
            </a:pPr>
            <a:r>
              <a:rPr lang="pt-BR" b="1" i="0" dirty="0">
                <a:solidFill>
                  <a:schemeClr val="bg1"/>
                </a:solidFill>
                <a:effectLst/>
              </a:rPr>
              <a:t>Neste tipo de relacionamento, cada registro em uma tabela está relacionado a um único registro na tabela relacionada e vice-versa.</a:t>
            </a:r>
          </a:p>
          <a:p>
            <a:pPr marL="285750" indent="-285750" algn="l">
              <a:buClr>
                <a:srgbClr val="FF0066"/>
              </a:buClr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</a:endParaRPr>
          </a:p>
          <a:p>
            <a:pPr marL="285750" indent="-285750" algn="l">
              <a:buClr>
                <a:srgbClr val="FF0066"/>
              </a:buClr>
              <a:buFont typeface="Arial" panose="020B0604020202020204" pitchFamily="34" charset="0"/>
              <a:buChar char="•"/>
            </a:pPr>
            <a:r>
              <a:rPr lang="pt-BR" b="1" i="0" dirty="0">
                <a:solidFill>
                  <a:schemeClr val="bg1"/>
                </a:solidFill>
                <a:effectLst/>
              </a:rPr>
              <a:t>Cardinalidade Um para Muitos (1:N):</a:t>
            </a:r>
          </a:p>
          <a:p>
            <a:pPr marL="285750" indent="-285750" algn="l">
              <a:buClr>
                <a:srgbClr val="FF0066"/>
              </a:buClr>
              <a:buFont typeface="Arial" panose="020B0604020202020204" pitchFamily="34" charset="0"/>
              <a:buChar char="•"/>
            </a:pPr>
            <a:endParaRPr lang="pt-BR" b="1" i="0" dirty="0">
              <a:solidFill>
                <a:schemeClr val="bg1"/>
              </a:solidFill>
              <a:effectLst/>
            </a:endParaRPr>
          </a:p>
          <a:p>
            <a:pPr algn="l">
              <a:buClr>
                <a:srgbClr val="FF0066"/>
              </a:buClr>
            </a:pPr>
            <a:r>
              <a:rPr lang="pt-BR" i="0" dirty="0">
                <a:solidFill>
                  <a:schemeClr val="bg1"/>
                </a:solidFill>
                <a:effectLst/>
              </a:rPr>
              <a:t>Na cardinalidade um para muitos, um registro em uma tabela pode estar relacionado a vários registros em outra tabela, mas cada registro na segunda tabela está relacionado a apenas um registro na primeira tabela.</a:t>
            </a:r>
          </a:p>
          <a:p>
            <a:pPr marL="285750" indent="-285750" algn="l">
              <a:buClr>
                <a:srgbClr val="FF0066"/>
              </a:buClr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</a:endParaRPr>
          </a:p>
          <a:p>
            <a:pPr marL="285750" indent="-285750" algn="l">
              <a:buClr>
                <a:srgbClr val="FF0066"/>
              </a:buClr>
              <a:buFont typeface="Arial" panose="020B0604020202020204" pitchFamily="34" charset="0"/>
              <a:buChar char="•"/>
            </a:pPr>
            <a:r>
              <a:rPr lang="pt-BR" b="1" i="0" dirty="0">
                <a:solidFill>
                  <a:schemeClr val="bg1"/>
                </a:solidFill>
                <a:effectLst/>
              </a:rPr>
              <a:t>Cardinalidade Muitos para Muitos (N:N):</a:t>
            </a:r>
          </a:p>
          <a:p>
            <a:pPr algn="l">
              <a:buClr>
                <a:srgbClr val="FF0066"/>
              </a:buClr>
            </a:pPr>
            <a:endParaRPr lang="pt-BR" b="1" i="0" dirty="0">
              <a:solidFill>
                <a:schemeClr val="bg1"/>
              </a:solidFill>
              <a:effectLst/>
            </a:endParaRPr>
          </a:p>
          <a:p>
            <a:pPr algn="l">
              <a:buClr>
                <a:srgbClr val="FF0066"/>
              </a:buClr>
            </a:pPr>
            <a:r>
              <a:rPr lang="pt-BR" i="0" dirty="0">
                <a:solidFill>
                  <a:schemeClr val="bg1"/>
                </a:solidFill>
                <a:effectLst/>
              </a:rPr>
              <a:t>Na cardinalidade muitos para muitos, vários registros em uma tabela podem se relacionar com vários registros em outra tabela.</a:t>
            </a:r>
          </a:p>
          <a:p>
            <a:pPr algn="l">
              <a:buClr>
                <a:srgbClr val="FF0066"/>
              </a:buClr>
            </a:pPr>
            <a:r>
              <a:rPr lang="pt-BR" i="0" dirty="0">
                <a:solidFill>
                  <a:schemeClr val="bg1"/>
                </a:solidFill>
                <a:effectLst/>
              </a:rPr>
              <a:t>Para representar esse tipo de relacionamento em um banco de dados relacional, geralmente é necessário criar uma tabela de junção (tabela intermediária ou tabela associativa) que mantém os relacionamentos entre as duas tabelas.</a:t>
            </a:r>
          </a:p>
          <a:p>
            <a:br>
              <a:rPr lang="pt-BR" b="0" i="0" dirty="0">
                <a:solidFill>
                  <a:srgbClr val="374151"/>
                </a:solidFill>
                <a:effectLst/>
                <a:latin typeface="Söhne"/>
              </a:rPr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84091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" y="3"/>
            <a:ext cx="12180721" cy="68580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00" y="292781"/>
            <a:ext cx="11588600" cy="62724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8D3C985-B2CE-E2E9-35D4-CBCBC3704C4F}"/>
              </a:ext>
            </a:extLst>
          </p:cNvPr>
          <p:cNvSpPr txBox="1"/>
          <p:nvPr/>
        </p:nvSpPr>
        <p:spPr>
          <a:xfrm>
            <a:off x="3259650" y="2967334"/>
            <a:ext cx="46697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rgbClr val="FF0066"/>
                </a:solidFill>
              </a:rPr>
              <a:t>Dúvidas?</a:t>
            </a:r>
          </a:p>
        </p:txBody>
      </p:sp>
    </p:spTree>
    <p:extLst>
      <p:ext uri="{BB962C8B-B14F-4D97-AF65-F5344CB8AC3E}">
        <p14:creationId xmlns:p14="http://schemas.microsoft.com/office/powerpoint/2010/main" val="1867465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D8A30E3-55C7-4BB3-A887-F4632C578729}">
  <we:reference id="wa104038830" version="1.0.0.3" store="en-US" storeType="OMEX"/>
  <we:alternateReferences>
    <we:reference id="WA104038830" version="1.0.0.3" store="WA104038830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5E8FFB4BADE9C4AA27420827F0B6B02" ma:contentTypeVersion="7" ma:contentTypeDescription="Crie um novo documento." ma:contentTypeScope="" ma:versionID="8b5f83e3ff4fd4db95a4863e3f2afca2">
  <xsd:schema xmlns:xsd="http://www.w3.org/2001/XMLSchema" xmlns:xs="http://www.w3.org/2001/XMLSchema" xmlns:p="http://schemas.microsoft.com/office/2006/metadata/properties" xmlns:ns3="3c1dc2a5-f87b-4340-a568-c485be23fc77" xmlns:ns4="2252625f-9dae-43d1-b737-452d42f6f3f1" targetNamespace="http://schemas.microsoft.com/office/2006/metadata/properties" ma:root="true" ma:fieldsID="00cf84ae4df08af3b71da1b45eed2295" ns3:_="" ns4:_="">
    <xsd:import namespace="3c1dc2a5-f87b-4340-a568-c485be23fc77"/>
    <xsd:import namespace="2252625f-9dae-43d1-b737-452d42f6f3f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1dc2a5-f87b-4340-a568-c485be23fc7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52625f-9dae-43d1-b737-452d42f6f3f1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Hash de Dica de Compartilhamento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c1dc2a5-f87b-4340-a568-c485be23fc77" xsi:nil="true"/>
  </documentManagement>
</p:properties>
</file>

<file path=customXml/itemProps1.xml><?xml version="1.0" encoding="utf-8"?>
<ds:datastoreItem xmlns:ds="http://schemas.openxmlformats.org/officeDocument/2006/customXml" ds:itemID="{5F08B5A7-CCFA-45A2-98E2-90D369CEBC2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FF1CFCF-5089-4F5F-8609-C3407EEE6DD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c1dc2a5-f87b-4340-a568-c485be23fc77"/>
    <ds:schemaRef ds:uri="2252625f-9dae-43d1-b737-452d42f6f3f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FA0C59D-4771-43B5-B6A9-E65F8F251B04}">
  <ds:schemaRefs>
    <ds:schemaRef ds:uri="http://purl.org/dc/terms/"/>
    <ds:schemaRef ds:uri="http://schemas.microsoft.com/office/2006/metadata/properties"/>
    <ds:schemaRef ds:uri="http://schemas.microsoft.com/office/2006/documentManagement/types"/>
    <ds:schemaRef ds:uri="http://purl.org/dc/elements/1.1/"/>
    <ds:schemaRef ds:uri="2252625f-9dae-43d1-b737-452d42f6f3f1"/>
    <ds:schemaRef ds:uri="3c1dc2a5-f87b-4340-a568-c485be23fc77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4332</TotalTime>
  <Words>356</Words>
  <Application>Microsoft Office PowerPoint</Application>
  <PresentationFormat>Widescreen</PresentationFormat>
  <Paragraphs>84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Abadi</vt:lpstr>
      <vt:lpstr>Arial</vt:lpstr>
      <vt:lpstr>Calibri</vt:lpstr>
      <vt:lpstr>Gotham HTF Light</vt:lpstr>
      <vt:lpstr>Söhne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Application &amp; Data Science</dc:title>
  <dc:creator>Logon PF Fiap</dc:creator>
  <cp:lastModifiedBy>Vergílio Valério dos Santos</cp:lastModifiedBy>
  <cp:revision>37</cp:revision>
  <dcterms:created xsi:type="dcterms:W3CDTF">2022-12-06T11:52:36Z</dcterms:created>
  <dcterms:modified xsi:type="dcterms:W3CDTF">2023-11-06T10:57:09Z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0x01010025E8FFB4BADE9C4AA27420827F0B6B02</vt:lpwstr>
  </property>
</Properties>
</file>