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6"/>
  </p:notesMasterIdLst>
  <p:sldIdLst>
    <p:sldId id="294" r:id="rId5"/>
    <p:sldId id="295" r:id="rId6"/>
    <p:sldId id="296" r:id="rId7"/>
    <p:sldId id="297" r:id="rId8"/>
    <p:sldId id="298" r:id="rId9"/>
    <p:sldId id="299" r:id="rId10"/>
    <p:sldId id="300" r:id="rId11"/>
    <p:sldId id="302" r:id="rId12"/>
    <p:sldId id="303" r:id="rId13"/>
    <p:sldId id="304" r:id="rId14"/>
    <p:sldId id="305" r:id="rId15"/>
    <p:sldId id="307" r:id="rId16"/>
    <p:sldId id="312" r:id="rId17"/>
    <p:sldId id="313" r:id="rId18"/>
    <p:sldId id="314" r:id="rId19"/>
    <p:sldId id="315" r:id="rId20"/>
    <p:sldId id="316" r:id="rId21"/>
    <p:sldId id="317" r:id="rId22"/>
    <p:sldId id="306" r:id="rId23"/>
    <p:sldId id="308" r:id="rId24"/>
    <p:sldId id="30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A0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AA5CF-91D2-4251-A42B-DDC6B6E0B601}" v="30" dt="2024-03-10T23:06:57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363F2-35D9-463B-9434-DD95CD619908}" type="datetimeFigureOut">
              <a:rPr lang="pt-BR" smtClean="0"/>
              <a:t>10/03/2024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03657-B93B-47A0-A988-1D3D91588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37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51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663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16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6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4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36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50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963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44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76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2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626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72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153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319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0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54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35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57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26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0B3D-DA44-3C20-FB00-A4CCA8C2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100AB0-DEA9-AC3B-B29D-34AE09DAA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62ED1-58C4-6440-405F-341B30096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BCDC-8936-6719-94B2-55B823E36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6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3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"/>
            <a:ext cx="12192000" cy="686435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475" t="-31201" b="-62954"/>
          <a:stretch/>
        </p:blipFill>
        <p:spPr>
          <a:xfrm>
            <a:off x="11176001" y="279400"/>
            <a:ext cx="711199" cy="3047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en/database/oracle/oracle-database/19/sqlrf/Introduction-to-Oracle-SQL.html#GUID-049B7AE8-11E1-4110-B3E4-D117907D77AC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oracle.com/en/database/oracle/oracle-database/19/sqlrf/Arithmetic-Operators.html#GUID-46CD9FD8-FC94-44BA-AA62-30A16063EAA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qlzoo.net/" TargetMode="External"/><Relationship Id="rId5" Type="http://schemas.openxmlformats.org/officeDocument/2006/relationships/hyperlink" Target="https://www.w3schools.com/sql/sql_operators.asp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1367" y="2851616"/>
            <a:ext cx="4269268" cy="11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7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DD4C1FF-95F8-5E5B-AD19-917E69DAF5DD}"/>
              </a:ext>
            </a:extLst>
          </p:cNvPr>
          <p:cNvSpPr txBox="1"/>
          <p:nvPr/>
        </p:nvSpPr>
        <p:spPr>
          <a:xfrm>
            <a:off x="2294626" y="2743200"/>
            <a:ext cx="7194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i="0" dirty="0">
                <a:solidFill>
                  <a:srgbClr val="FF0066"/>
                </a:solidFill>
                <a:effectLst/>
                <a:latin typeface="Söhne"/>
              </a:rPr>
              <a:t>Operadores Aritméticos em Banco de Dados</a:t>
            </a:r>
            <a:endParaRPr lang="pt-BR" sz="28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39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11" y="192408"/>
            <a:ext cx="11588600" cy="62724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94A2AD5-268D-5AF8-A11F-4E9F49C1AEBE}"/>
              </a:ext>
            </a:extLst>
          </p:cNvPr>
          <p:cNvSpPr txBox="1"/>
          <p:nvPr/>
        </p:nvSpPr>
        <p:spPr>
          <a:xfrm>
            <a:off x="1602398" y="2057378"/>
            <a:ext cx="90401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t-BR" b="1" i="0" dirty="0">
                <a:solidFill>
                  <a:srgbClr val="FF0066"/>
                </a:solidFill>
                <a:effectLst/>
                <a:latin typeface="Söhne"/>
              </a:rPr>
              <a:t>Objetivos da Aula:</a:t>
            </a:r>
          </a:p>
          <a:p>
            <a:pPr algn="l"/>
            <a:endParaRPr lang="pt-BR" b="1" i="0" dirty="0">
              <a:solidFill>
                <a:schemeClr val="bg1"/>
              </a:solidFill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öhne"/>
              </a:rPr>
              <a:t> Entender o conceito de operadores aritméticos em bancos de dados.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öhne"/>
              </a:rPr>
              <a:t> Aprender a utilizar os operadores aritméticos em consultas 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öhne"/>
              </a:rPr>
              <a:t> Compreender exemplos de utilização de operadores aritméticos.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öhne"/>
              </a:rPr>
              <a:t> Praticar resolvendo exercícios relacionados aos operadores aritméticos em bancos de dados.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.</a:t>
            </a:r>
          </a:p>
          <a:p>
            <a:pPr algn="l"/>
            <a:endParaRPr lang="pt-BR" b="1" i="0" dirty="0">
              <a:solidFill>
                <a:schemeClr val="bg1"/>
              </a:solidFill>
              <a:effectLst/>
              <a:latin typeface="Söhne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5517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6549C3-1488-A1CD-1D28-08C0DDE1B777}"/>
              </a:ext>
            </a:extLst>
          </p:cNvPr>
          <p:cNvSpPr txBox="1"/>
          <p:nvPr/>
        </p:nvSpPr>
        <p:spPr>
          <a:xfrm>
            <a:off x="1699674" y="117304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FF0066"/>
                </a:solidFill>
                <a:effectLst/>
                <a:latin typeface="Söhne"/>
              </a:rPr>
              <a:t>Introdução aos Operadores Aritméticos</a:t>
            </a:r>
            <a:endParaRPr lang="pt-BR" dirty="0">
              <a:solidFill>
                <a:srgbClr val="FF0066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EAC0E0D-94A3-3CCB-84AE-3C59B7CD0AB6}"/>
              </a:ext>
            </a:extLst>
          </p:cNvPr>
          <p:cNvSpPr txBox="1"/>
          <p:nvPr/>
        </p:nvSpPr>
        <p:spPr>
          <a:xfrm>
            <a:off x="1699674" y="1937562"/>
            <a:ext cx="8467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Söhne"/>
              </a:rPr>
              <a:t>Os operadores aritméticos em bancos de dados servem para realizar operações matemáticas diretamente nas consultas SQL. Eles permitem que você execute cálculos, manipule valores numéricos e obtenha resultados precisos de acordo com as necessidades da sua aplicação.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401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448898-FC8B-328D-4AFD-42D30406C431}"/>
              </a:ext>
            </a:extLst>
          </p:cNvPr>
          <p:cNvSpPr txBox="1"/>
          <p:nvPr/>
        </p:nvSpPr>
        <p:spPr>
          <a:xfrm>
            <a:off x="1370692" y="1149437"/>
            <a:ext cx="679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pt-BR" b="0" i="0" dirty="0">
                <a:solidFill>
                  <a:srgbClr val="FF0066"/>
                </a:solidFill>
                <a:effectLst/>
                <a:latin typeface="Söhne"/>
              </a:rPr>
              <a:t>Importância dos operadores aritméticos em consultas SQL</a:t>
            </a:r>
            <a:endParaRPr lang="pt-BR" dirty="0">
              <a:solidFill>
                <a:srgbClr val="FF0066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E5C0D4-6CEA-16FA-A183-870EAAA3F186}"/>
              </a:ext>
            </a:extLst>
          </p:cNvPr>
          <p:cNvSpPr txBox="1"/>
          <p:nvPr/>
        </p:nvSpPr>
        <p:spPr>
          <a:xfrm>
            <a:off x="1845145" y="2107577"/>
            <a:ext cx="92947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Realização de cálculos matemáticos: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Calcular o total de vendas, média de idade dos clientes, desconto em produtos, etc.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Obter resultados precisos e confiáveis para embasar decisões estratégicas.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 Manipulação de dados para análises: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Criar novas colunas com valores calculados, como lucro por venda ou margem de lucro.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Filtrar e agrupar dados de acordo com critérios específicos.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845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50AA01B-7EBF-8D61-3C88-1A8450112A25}"/>
              </a:ext>
            </a:extLst>
          </p:cNvPr>
          <p:cNvSpPr txBox="1"/>
          <p:nvPr/>
        </p:nvSpPr>
        <p:spPr>
          <a:xfrm>
            <a:off x="1199071" y="1174212"/>
            <a:ext cx="10084279" cy="448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Simplificação de consultas complexas: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Combinar cálculos e operações em uma única consulta, otimizando o tempo de processamento.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Obter resultados mais rapidamente, aumentando a produtividade.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Maior flexibilidade e dinamismo nas consultas: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Adaptar as consultas às necessidades específicas de cada situação.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Atender a diferentes tipos de análises e relatórios.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Integração com outras funções SQL: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Combinar operadores aritméticos com outras funções para realizar análises mais completas.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Obter insights mais profundos sobre os dados.</a:t>
            </a:r>
          </a:p>
        </p:txBody>
      </p:sp>
    </p:spTree>
    <p:extLst>
      <p:ext uri="{BB962C8B-B14F-4D97-AF65-F5344CB8AC3E}">
        <p14:creationId xmlns:p14="http://schemas.microsoft.com/office/powerpoint/2010/main" val="2664994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2DAA706-128E-CE6D-3317-DFCB70E09122}"/>
              </a:ext>
            </a:extLst>
          </p:cNvPr>
          <p:cNvSpPr txBox="1"/>
          <p:nvPr/>
        </p:nvSpPr>
        <p:spPr>
          <a:xfrm>
            <a:off x="1839582" y="94012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FF0066"/>
                </a:solidFill>
                <a:effectLst/>
                <a:latin typeface="Söhne"/>
              </a:rPr>
              <a:t>Utilização dos Operadores Aritméticos em Consultas SQL</a:t>
            </a:r>
            <a:endParaRPr lang="pt-BR" dirty="0">
              <a:solidFill>
                <a:srgbClr val="FF0066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A090D0-062A-DC1A-8B17-956BA31DBDF8}"/>
              </a:ext>
            </a:extLst>
          </p:cNvPr>
          <p:cNvSpPr txBox="1"/>
          <p:nvPr/>
        </p:nvSpPr>
        <p:spPr>
          <a:xfrm>
            <a:off x="1839582" y="1588128"/>
            <a:ext cx="93079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Os operadores aritméticos permitem realizar cálculos matemáticos em consultas SQL, extraindo informações valiosas de um banco de dados. Abaixo, detalhamos sua utilização.</a:t>
            </a:r>
          </a:p>
          <a:p>
            <a:pPr algn="just"/>
            <a:endParaRPr lang="pt-BR" dirty="0">
              <a:solidFill>
                <a:schemeClr val="bg1"/>
              </a:solidFill>
            </a:endParaRPr>
          </a:p>
          <a:p>
            <a:pPr algn="just"/>
            <a:r>
              <a:rPr lang="pt-BR" dirty="0">
                <a:solidFill>
                  <a:srgbClr val="92D050"/>
                </a:solidFill>
              </a:rPr>
              <a:t>Tipos de operadores aritméticos:</a:t>
            </a:r>
          </a:p>
        </p:txBody>
      </p:sp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76A51A16-A4A0-C5FA-DA23-3D27F1CDF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843892"/>
              </p:ext>
            </p:extLst>
          </p:nvPr>
        </p:nvGraphicFramePr>
        <p:xfrm>
          <a:off x="1862312" y="3050679"/>
          <a:ext cx="8467375" cy="2066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876925" imgH="1409700" progId="Excel.Sheet.12">
                  <p:embed/>
                </p:oleObj>
              </mc:Choice>
              <mc:Fallback>
                <p:oleObj name="Worksheet" r:id="rId5" imgW="5876925" imgH="1409700" progId="Excel.Sheet.12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76A51A16-A4A0-C5FA-DA23-3D27F1CDF5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2312" y="3050679"/>
                        <a:ext cx="8467375" cy="2066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2385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D09824-8A2E-812D-6AB4-9DD18E5694E3}"/>
              </a:ext>
            </a:extLst>
          </p:cNvPr>
          <p:cNvSpPr txBox="1"/>
          <p:nvPr/>
        </p:nvSpPr>
        <p:spPr>
          <a:xfrm>
            <a:off x="1600200" y="107767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Funções com Operadores Aritméticos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B9AF37F8-AC88-C8A0-10C3-CDAB5103F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298217"/>
              </p:ext>
            </p:extLst>
          </p:nvPr>
        </p:nvGraphicFramePr>
        <p:xfrm>
          <a:off x="1600200" y="2019299"/>
          <a:ext cx="8991600" cy="2819400"/>
        </p:xfrm>
        <a:graphic>
          <a:graphicData uri="http://schemas.openxmlformats.org/drawingml/2006/table">
            <a:tbl>
              <a:tblPr/>
              <a:tblGrid>
                <a:gridCol w="980037">
                  <a:extLst>
                    <a:ext uri="{9D8B030D-6E8A-4147-A177-3AD203B41FA5}">
                      <a16:colId xmlns:a16="http://schemas.microsoft.com/office/drawing/2014/main" val="864552336"/>
                    </a:ext>
                  </a:extLst>
                </a:gridCol>
                <a:gridCol w="3453916">
                  <a:extLst>
                    <a:ext uri="{9D8B030D-6E8A-4147-A177-3AD203B41FA5}">
                      <a16:colId xmlns:a16="http://schemas.microsoft.com/office/drawing/2014/main" val="1522726802"/>
                    </a:ext>
                  </a:extLst>
                </a:gridCol>
                <a:gridCol w="4557647">
                  <a:extLst>
                    <a:ext uri="{9D8B030D-6E8A-4147-A177-3AD203B41FA5}">
                      <a16:colId xmlns:a16="http://schemas.microsoft.com/office/drawing/2014/main" val="173959852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Função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Descrição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Exemplo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4034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Soma valores de uma coluna.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SUM(valor_venda) AS total_vendas FROM vendas;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113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AVG()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Calcula a média de valores de uma coluna.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AVG(idade) AS media_idade FROM clientes;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81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Encontra o menor valor de uma coluna.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MIN(preco) AS menor_preco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961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Encontra o maior valor de uma coluna.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MAX(estoque) AS maior_estoque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717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Conta o número de linhas em uma tabela ou grupo.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COUNT(*) AS total_clientes FROM clientes;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4986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ROUND()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Arredonda um número para um número inteiro especificado de casas decimais.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ROUND(preco, 2) AS preco_arredondado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56323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CEIL()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Arredonda um número para cima para o inteiro mais próximo.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CEIL(preco) AS preco_arredondado_cima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1877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Arredonda um número para baixo para o inteiro mais próximo.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FLOOR(preco) AS preco_arredondado_baixo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261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ABS()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Retorna o valor absoluto de um número.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ABS(-10) AS valor_absoluto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3372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Retorna o resto da divisão de um número por outro.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MOD(10, 3) AS resto_divisao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943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POW()</a:t>
                      </a:r>
                    </a:p>
                  </a:txBody>
                  <a:tcPr marL="9525" marR="9525" marT="19050" marB="1905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Eleva um número a outro.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SELECT POW(2, 3) AS potência FROM produtos;</a:t>
                      </a:r>
                    </a:p>
                  </a:txBody>
                  <a:tcPr marL="9525" marR="952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50274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CF3034-5A01-D0D5-7936-8EFD8FEAA686}"/>
              </a:ext>
            </a:extLst>
          </p:cNvPr>
          <p:cNvSpPr txBox="1"/>
          <p:nvPr/>
        </p:nvSpPr>
        <p:spPr>
          <a:xfrm>
            <a:off x="1600200" y="5131477"/>
            <a:ext cx="899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Observações:</a:t>
            </a:r>
          </a:p>
          <a:p>
            <a:endParaRPr lang="pt-BR" dirty="0"/>
          </a:p>
          <a:p>
            <a:r>
              <a:rPr lang="pt-BR" dirty="0">
                <a:solidFill>
                  <a:schemeClr val="bg1"/>
                </a:solidFill>
              </a:rPr>
              <a:t>Esta tabela não é exaustiva e existem outras funções aritméticas disponíveis no SQL.</a:t>
            </a:r>
          </a:p>
        </p:txBody>
      </p:sp>
    </p:spTree>
    <p:extLst>
      <p:ext uri="{BB962C8B-B14F-4D97-AF65-F5344CB8AC3E}">
        <p14:creationId xmlns:p14="http://schemas.microsoft.com/office/powerpoint/2010/main" val="2017756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C69208-9EF0-188F-9B56-9917FF0AEDE6}"/>
              </a:ext>
            </a:extLst>
          </p:cNvPr>
          <p:cNvSpPr txBox="1"/>
          <p:nvPr/>
        </p:nvSpPr>
        <p:spPr>
          <a:xfrm>
            <a:off x="1951726" y="2357742"/>
            <a:ext cx="77271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SELECT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SUM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(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valor_venda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)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AS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total_vendas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,</a:t>
            </a:r>
          </a:p>
          <a:p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     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AVG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(idade)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AS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media_idade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,</a:t>
            </a:r>
          </a:p>
          <a:p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     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MIN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(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preco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)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AS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menor_preco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,</a:t>
            </a:r>
          </a:p>
          <a:p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     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MAX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(estoque)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AS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 err="1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maior_estoque</a:t>
            </a:r>
            <a:endParaRPr lang="pt-BR" sz="2400" b="0" i="0" u="none" strike="noStrike" baseline="0" dirty="0">
              <a:solidFill>
                <a:srgbClr val="000080"/>
              </a:solidFill>
              <a:highlight>
                <a:srgbClr val="C0C0C0"/>
              </a:highlight>
              <a:latin typeface="Courier New" panose="02070309020205020404" pitchFamily="49" charset="0"/>
            </a:endParaRPr>
          </a:p>
          <a:p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FROM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vendas</a:t>
            </a:r>
          </a:p>
          <a:p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GROUP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</a:t>
            </a:r>
            <a:r>
              <a:rPr lang="pt-BR" sz="2400" b="0" i="0" u="none" strike="noStrike" baseline="0" dirty="0">
                <a:solidFill>
                  <a:srgbClr val="008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BY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C0C0C0"/>
                </a:highlight>
                <a:latin typeface="Courier New" panose="02070309020205020404" pitchFamily="49" charset="0"/>
              </a:rPr>
              <a:t> pais</a:t>
            </a:r>
            <a:r>
              <a:rPr lang="pt-BR" sz="24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0054C3F-4D01-20AA-FEBE-73BD9FFD6B81}"/>
              </a:ext>
            </a:extLst>
          </p:cNvPr>
          <p:cNvSpPr txBox="1"/>
          <p:nvPr/>
        </p:nvSpPr>
        <p:spPr>
          <a:xfrm>
            <a:off x="1951726" y="1133541"/>
            <a:ext cx="586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Exemplo de utilização de funções de operadores aritméticos</a:t>
            </a:r>
          </a:p>
        </p:txBody>
      </p:sp>
    </p:spTree>
    <p:extLst>
      <p:ext uri="{BB962C8B-B14F-4D97-AF65-F5344CB8AC3E}">
        <p14:creationId xmlns:p14="http://schemas.microsoft.com/office/powerpoint/2010/main" val="343948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D8494BF-928D-E12D-9DDA-28AE6B9D2AF3}"/>
              </a:ext>
            </a:extLst>
          </p:cNvPr>
          <p:cNvSpPr txBox="1"/>
          <p:nvPr/>
        </p:nvSpPr>
        <p:spPr>
          <a:xfrm>
            <a:off x="1623922" y="62657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Operadores Relacionais: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05C3E2E-7A69-605E-0356-F4CE33E1E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591744"/>
              </p:ext>
            </p:extLst>
          </p:nvPr>
        </p:nvGraphicFramePr>
        <p:xfrm>
          <a:off x="1753318" y="3646433"/>
          <a:ext cx="7899400" cy="1645920"/>
        </p:xfrm>
        <a:graphic>
          <a:graphicData uri="http://schemas.openxmlformats.org/drawingml/2006/table">
            <a:tbl>
              <a:tblPr/>
              <a:tblGrid>
                <a:gridCol w="1209189">
                  <a:extLst>
                    <a:ext uri="{9D8B030D-6E8A-4147-A177-3AD203B41FA5}">
                      <a16:colId xmlns:a16="http://schemas.microsoft.com/office/drawing/2014/main" val="2634881613"/>
                    </a:ext>
                  </a:extLst>
                </a:gridCol>
                <a:gridCol w="710914">
                  <a:extLst>
                    <a:ext uri="{9D8B030D-6E8A-4147-A177-3AD203B41FA5}">
                      <a16:colId xmlns:a16="http://schemas.microsoft.com/office/drawing/2014/main" val="1581245282"/>
                    </a:ext>
                  </a:extLst>
                </a:gridCol>
                <a:gridCol w="2780183">
                  <a:extLst>
                    <a:ext uri="{9D8B030D-6E8A-4147-A177-3AD203B41FA5}">
                      <a16:colId xmlns:a16="http://schemas.microsoft.com/office/drawing/2014/main" val="3412191881"/>
                    </a:ext>
                  </a:extLst>
                </a:gridCol>
                <a:gridCol w="3199114">
                  <a:extLst>
                    <a:ext uri="{9D8B030D-6E8A-4147-A177-3AD203B41FA5}">
                      <a16:colId xmlns:a16="http://schemas.microsoft.com/office/drawing/2014/main" val="13472212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Operador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Símbolo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Descrição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Exemplo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19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Igualdade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dois valores são iguais.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clientes WHERE nome = 'João Silva';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93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Desigualdade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&lt;&gt;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dois valores são diferentes.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produtos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&lt;&gt; 100.00;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25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Menor que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&lt;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é menor que outro.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clientes WHERE idade &lt; 18;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8756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Maior que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é maior que outro.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produtos WHERE estoque &gt; 10;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54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Menor ou igual que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&lt;=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é menor ou igual a outro.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clientes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idade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&lt;= 30;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0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Maior ou igual que</a:t>
                      </a: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&gt;=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é maior ou igual a outro.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produtos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&gt;= 50.00;</a:t>
                      </a: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69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19050" marB="1905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19050" marB="1905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57572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E7B662C3-7704-1BCA-21E4-3FF8A5A236E8}"/>
              </a:ext>
            </a:extLst>
          </p:cNvPr>
          <p:cNvSpPr txBox="1"/>
          <p:nvPr/>
        </p:nvSpPr>
        <p:spPr>
          <a:xfrm>
            <a:off x="1623922" y="2082478"/>
            <a:ext cx="9107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Os operadores relacionais no SQL são utilizados para comparar valores e expressões em consultas SQL e retornar resultados com base nas condições especificadas. A ideia fundamental por trás dos operadores relacionais é permitir que você estabeleça relações entre dados e realize comparações para filtrar ou selecionar os dados desejados.</a:t>
            </a:r>
          </a:p>
        </p:txBody>
      </p:sp>
    </p:spTree>
    <p:extLst>
      <p:ext uri="{BB962C8B-B14F-4D97-AF65-F5344CB8AC3E}">
        <p14:creationId xmlns:p14="http://schemas.microsoft.com/office/powerpoint/2010/main" val="3671008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30637"/>
            <a:ext cx="11588600" cy="6272437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565EE61-8FDF-5ED0-68E2-15742FD7F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236289"/>
              </p:ext>
            </p:extLst>
          </p:nvPr>
        </p:nvGraphicFramePr>
        <p:xfrm>
          <a:off x="1478713" y="2659547"/>
          <a:ext cx="8902460" cy="1414615"/>
        </p:xfrm>
        <a:graphic>
          <a:graphicData uri="http://schemas.openxmlformats.org/drawingml/2006/table">
            <a:tbl>
              <a:tblPr/>
              <a:tblGrid>
                <a:gridCol w="1056262">
                  <a:extLst>
                    <a:ext uri="{9D8B030D-6E8A-4147-A177-3AD203B41FA5}">
                      <a16:colId xmlns:a16="http://schemas.microsoft.com/office/drawing/2014/main" val="1300431639"/>
                    </a:ext>
                  </a:extLst>
                </a:gridCol>
                <a:gridCol w="900120">
                  <a:extLst>
                    <a:ext uri="{9D8B030D-6E8A-4147-A177-3AD203B41FA5}">
                      <a16:colId xmlns:a16="http://schemas.microsoft.com/office/drawing/2014/main" val="2964921781"/>
                    </a:ext>
                  </a:extLst>
                </a:gridCol>
                <a:gridCol w="3161901">
                  <a:extLst>
                    <a:ext uri="{9D8B030D-6E8A-4147-A177-3AD203B41FA5}">
                      <a16:colId xmlns:a16="http://schemas.microsoft.com/office/drawing/2014/main" val="1392180426"/>
                    </a:ext>
                  </a:extLst>
                </a:gridCol>
                <a:gridCol w="3784177">
                  <a:extLst>
                    <a:ext uri="{9D8B030D-6E8A-4147-A177-3AD203B41FA5}">
                      <a16:colId xmlns:a16="http://schemas.microsoft.com/office/drawing/2014/main" val="2474727069"/>
                    </a:ext>
                  </a:extLst>
                </a:gridCol>
              </a:tblGrid>
              <a:tr h="352157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Operador</a:t>
                      </a:r>
                    </a:p>
                  </a:txBody>
                  <a:tcPr marL="8139" marR="8139" marT="16278" marB="16278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Símbolo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Descrição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Exemplo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45167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LIKE</a:t>
                      </a:r>
                    </a:p>
                  </a:txBody>
                  <a:tcPr marL="8139" marR="8139" marT="16278" marB="16278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LIKE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corresponde a um padrão.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LIKE '%Silva%';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55743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BETWEEN</a:t>
                      </a:r>
                    </a:p>
                  </a:txBody>
                  <a:tcPr marL="8139" marR="8139" marT="16278" marB="16278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BETWEEN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está entre dois valores.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produtos WHERE preco BETWEEN 50.00 AND 100.00;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912028"/>
                  </a:ext>
                </a:extLst>
              </a:tr>
              <a:tr h="358144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LIKE e BETWEEN juntos</a:t>
                      </a:r>
                    </a:p>
                  </a:txBody>
                  <a:tcPr marL="8139" marR="8139" marT="16278" marB="16278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LIKE ... BETWEEN ...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um valor corresponde a um padrão e está entre dois valores.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LIKE '%Silva%' AND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idade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BETWEEN 18 AND 30;</a:t>
                      </a:r>
                    </a:p>
                  </a:txBody>
                  <a:tcPr marL="8139" marR="8139" marT="16278" marB="16278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949457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08E653E-5250-4C5C-7ED3-364B16F53239}"/>
              </a:ext>
            </a:extLst>
          </p:cNvPr>
          <p:cNvSpPr txBox="1"/>
          <p:nvPr/>
        </p:nvSpPr>
        <p:spPr>
          <a:xfrm>
            <a:off x="1478713" y="70860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Operadores LIKE e BETWEEN:</a:t>
            </a:r>
          </a:p>
        </p:txBody>
      </p:sp>
    </p:spTree>
    <p:extLst>
      <p:ext uri="{BB962C8B-B14F-4D97-AF65-F5344CB8AC3E}">
        <p14:creationId xmlns:p14="http://schemas.microsoft.com/office/powerpoint/2010/main" val="3240550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AAAAB6-9AC6-93A1-2C44-4098BFB55C58}"/>
              </a:ext>
            </a:extLst>
          </p:cNvPr>
          <p:cNvSpPr txBox="1"/>
          <p:nvPr/>
        </p:nvSpPr>
        <p:spPr>
          <a:xfrm>
            <a:off x="1401075" y="74028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Operadores Lógicos: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ADF324-6E84-C680-D4BB-38DD19415FFD}"/>
              </a:ext>
            </a:extLst>
          </p:cNvPr>
          <p:cNvSpPr txBox="1"/>
          <p:nvPr/>
        </p:nvSpPr>
        <p:spPr>
          <a:xfrm>
            <a:off x="1327389" y="2628996"/>
            <a:ext cx="95285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Os operadores lógicos em SQL são ferramentas essenciais para construir consultas complexas e extrair informações precisas de um banco de dados.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rgbClr val="FFFF00"/>
                </a:solidFill>
              </a:rPr>
              <a:t>Combinar condições: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Permitir a seleção de dados que atendam a vários critérios simultaneamente.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Aumentar a granularidade e a precisão das consultas.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16DDED1-0251-1BE4-7482-C8E581CA9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411" y="5132815"/>
            <a:ext cx="7983064" cy="504895"/>
          </a:xfrm>
          <a:prstGeom prst="rect">
            <a:avLst/>
          </a:prstGeo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F0F21D2-4F8A-640E-EC0C-9ACDE2E40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88352"/>
              </p:ext>
            </p:extLst>
          </p:nvPr>
        </p:nvGraphicFramePr>
        <p:xfrm>
          <a:off x="1401075" y="1397210"/>
          <a:ext cx="9054141" cy="826912"/>
        </p:xfrm>
        <a:graphic>
          <a:graphicData uri="http://schemas.openxmlformats.org/drawingml/2006/table">
            <a:tbl>
              <a:tblPr/>
              <a:tblGrid>
                <a:gridCol w="785358">
                  <a:extLst>
                    <a:ext uri="{9D8B030D-6E8A-4147-A177-3AD203B41FA5}">
                      <a16:colId xmlns:a16="http://schemas.microsoft.com/office/drawing/2014/main" val="795818534"/>
                    </a:ext>
                  </a:extLst>
                </a:gridCol>
                <a:gridCol w="720984">
                  <a:extLst>
                    <a:ext uri="{9D8B030D-6E8A-4147-A177-3AD203B41FA5}">
                      <a16:colId xmlns:a16="http://schemas.microsoft.com/office/drawing/2014/main" val="3873488381"/>
                    </a:ext>
                  </a:extLst>
                </a:gridCol>
                <a:gridCol w="3505140">
                  <a:extLst>
                    <a:ext uri="{9D8B030D-6E8A-4147-A177-3AD203B41FA5}">
                      <a16:colId xmlns:a16="http://schemas.microsoft.com/office/drawing/2014/main" val="2510793060"/>
                    </a:ext>
                  </a:extLst>
                </a:gridCol>
                <a:gridCol w="4042659">
                  <a:extLst>
                    <a:ext uri="{9D8B030D-6E8A-4147-A177-3AD203B41FA5}">
                      <a16:colId xmlns:a16="http://schemas.microsoft.com/office/drawing/2014/main" val="2090113470"/>
                    </a:ext>
                  </a:extLst>
                </a:gridCol>
              </a:tblGrid>
              <a:tr h="20672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Operador</a:t>
                      </a:r>
                    </a:p>
                  </a:txBody>
                  <a:tcPr marL="9525" marR="9525" marT="19050" marB="1905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Símbolo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Descrição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Exemplo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B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74598"/>
                  </a:ext>
                </a:extLst>
              </a:tr>
              <a:tr h="20672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 (AND)</a:t>
                      </a:r>
                    </a:p>
                  </a:txBody>
                  <a:tcPr marL="9525" marR="9525" marT="19050" marB="1905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ambas as condições são verdadeiras.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clientes WHERE idade &gt; 18 AND pais = 'Brasil';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00B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B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7984"/>
                  </a:ext>
                </a:extLst>
              </a:tr>
              <a:tr h="20672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 (OR)</a:t>
                      </a:r>
                    </a:p>
                  </a:txBody>
                  <a:tcPr marL="9525" marR="9525" marT="19050" marB="1905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Verifica se pelo menos uma das condições é verdadeira.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produtos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&gt; 100.00 OR estoque &lt; 10;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0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0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660023"/>
                  </a:ext>
                </a:extLst>
              </a:tr>
              <a:tr h="20672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(NOT)</a:t>
                      </a:r>
                    </a:p>
                  </a:txBody>
                  <a:tcPr marL="9525" marR="9525" marT="19050" marB="1905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Inverte o resultado da condição.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 * FROM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clientes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WHERE NOT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= '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Brasil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';</a:t>
                      </a:r>
                    </a:p>
                  </a:txBody>
                  <a:tcPr marL="9525" marR="9525" marT="19050" marB="19050" anchor="ctr">
                    <a:lnL w="6350" cap="flat" cmpd="sng" algn="ctr">
                      <a:solidFill>
                        <a:srgbClr val="409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9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3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030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B7E901D-5D66-8FF6-C051-C25D81F9341F}"/>
              </a:ext>
            </a:extLst>
          </p:cNvPr>
          <p:cNvSpPr txBox="1"/>
          <p:nvPr/>
        </p:nvSpPr>
        <p:spPr>
          <a:xfrm>
            <a:off x="1423358" y="843677"/>
            <a:ext cx="9859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Criar expressões complexas: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Combinar várias condições com diferentes operadores lógicos (AND, OR, NOT).</a:t>
            </a:r>
          </a:p>
          <a:p>
            <a:r>
              <a:rPr lang="pt-BR" dirty="0">
                <a:solidFill>
                  <a:schemeClr val="bg1"/>
                </a:solidFill>
              </a:rPr>
              <a:t>Obter resultados específicos e personalizados.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Exemplos: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Selecionar clientes que residem no Brasil ou na Argentina, mas não no Chile: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AD7212D-0A31-68BE-AD90-A90B1FE61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554" y="3414890"/>
            <a:ext cx="8707065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46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15FBED8-73CC-D256-3C25-DCE1EFFAF886}"/>
              </a:ext>
            </a:extLst>
          </p:cNvPr>
          <p:cNvSpPr txBox="1"/>
          <p:nvPr/>
        </p:nvSpPr>
        <p:spPr>
          <a:xfrm>
            <a:off x="1442767" y="497320"/>
            <a:ext cx="97198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Filtrar e agrupar dados: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Combinar operadores lógicos com outras funções SQL (WHERE, GROUP BY, HAVING).</a:t>
            </a:r>
          </a:p>
          <a:p>
            <a:r>
              <a:rPr lang="pt-BR" dirty="0">
                <a:solidFill>
                  <a:schemeClr val="bg1"/>
                </a:solidFill>
              </a:rPr>
              <a:t>Obter insights mais profundos e específicos sobre os dados.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Exemplos: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Calcular a média de vendas por país para clientes com mais de 18 anos: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C80EAF-A55A-DB5C-C197-AD02471F5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150" y="3098422"/>
            <a:ext cx="690658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55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CA13AAD-AB1A-5C4E-DAC2-3C89A96231CD}"/>
              </a:ext>
            </a:extLst>
          </p:cNvPr>
          <p:cNvSpPr txBox="1"/>
          <p:nvPr/>
        </p:nvSpPr>
        <p:spPr>
          <a:xfrm>
            <a:off x="4295955" y="577969"/>
            <a:ext cx="2691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FF0066"/>
                </a:solidFill>
              </a:rPr>
              <a:t>Vamos Praticar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43859B-4AB0-33AB-CDFA-41EB19E5A9FF}"/>
              </a:ext>
            </a:extLst>
          </p:cNvPr>
          <p:cNvSpPr txBox="1"/>
          <p:nvPr/>
        </p:nvSpPr>
        <p:spPr>
          <a:xfrm>
            <a:off x="1330623" y="1287222"/>
            <a:ext cx="984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chemeClr val="bg1"/>
                </a:solidFill>
                <a:effectLst/>
                <a:latin typeface="Google Sans"/>
              </a:rPr>
              <a:t>Para execução dos exercícios execute o script de criar e popular o </a:t>
            </a:r>
            <a:r>
              <a:rPr lang="pt-BR" b="1" i="0" dirty="0" err="1">
                <a:solidFill>
                  <a:schemeClr val="bg1"/>
                </a:solidFill>
                <a:effectLst/>
                <a:latin typeface="Google Sans"/>
              </a:rPr>
              <a:t>schem</a:t>
            </a:r>
            <a:r>
              <a:rPr lang="pt-BR" b="1" dirty="0" err="1">
                <a:solidFill>
                  <a:schemeClr val="bg1"/>
                </a:solidFill>
                <a:latin typeface="Google Sans"/>
              </a:rPr>
              <a:t>a</a:t>
            </a:r>
            <a:r>
              <a:rPr lang="pt-BR" b="1" dirty="0">
                <a:solidFill>
                  <a:schemeClr val="bg1"/>
                </a:solidFill>
                <a:latin typeface="Google Sans"/>
              </a:rPr>
              <a:t> HR que está na área de apostila 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8F84BA-1F2A-1374-6B46-EF19DFEE7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272" y="3838814"/>
            <a:ext cx="5572903" cy="83831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C0C37EF-6BC1-2168-9F38-7662B671DB51}"/>
              </a:ext>
            </a:extLst>
          </p:cNvPr>
          <p:cNvSpPr txBox="1"/>
          <p:nvPr/>
        </p:nvSpPr>
        <p:spPr>
          <a:xfrm>
            <a:off x="1535621" y="304768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chemeClr val="bg1"/>
                </a:solidFill>
                <a:effectLst/>
                <a:latin typeface="Google Sans"/>
              </a:rPr>
              <a:t>1 - Calcular a média de salário dos funcionários: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962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7B905B3-40A8-AB44-1000-E1F978F9E50E}"/>
              </a:ext>
            </a:extLst>
          </p:cNvPr>
          <p:cNvSpPr txBox="1"/>
          <p:nvPr/>
        </p:nvSpPr>
        <p:spPr>
          <a:xfrm>
            <a:off x="1589417" y="905145"/>
            <a:ext cx="8072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chemeClr val="bg1"/>
                </a:solidFill>
                <a:effectLst/>
                <a:latin typeface="Google Sans"/>
              </a:rPr>
              <a:t>2 - Obter a diferença de idade entre o funcionário mais velho e o mais novo:</a:t>
            </a:r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br>
              <a:rPr lang="pt-BR" b="0" dirty="0">
                <a:effectLst/>
                <a:latin typeface="Google Sans"/>
              </a:rPr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0C6869-5AD6-9CA2-9CD7-38FE0BBA1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36" y="1582092"/>
            <a:ext cx="6763694" cy="65731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0A02714-5E93-6140-1A20-4A33CD2F52BC}"/>
              </a:ext>
            </a:extLst>
          </p:cNvPr>
          <p:cNvSpPr txBox="1"/>
          <p:nvPr/>
        </p:nvSpPr>
        <p:spPr>
          <a:xfrm>
            <a:off x="1589417" y="2731690"/>
            <a:ext cx="7778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3 - Calcular o aumento de 10% no salário de um funcionário específico: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50586AB-A906-D673-EB25-34C1E0AA9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236" y="3499953"/>
            <a:ext cx="5887272" cy="943107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266929-31FF-0669-1105-34F9A480944A}"/>
              </a:ext>
            </a:extLst>
          </p:cNvPr>
          <p:cNvSpPr txBox="1"/>
          <p:nvPr/>
        </p:nvSpPr>
        <p:spPr>
          <a:xfrm>
            <a:off x="1592591" y="473583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4 - Encontrar funcionários com salário superior a R$ 5.000,00: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828173E-493B-D450-CB15-AE4A7E612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236" y="5342277"/>
            <a:ext cx="515374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81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A724E8A-BE55-4C8D-4BEF-11091B15C0B6}"/>
              </a:ext>
            </a:extLst>
          </p:cNvPr>
          <p:cNvSpPr txBox="1"/>
          <p:nvPr/>
        </p:nvSpPr>
        <p:spPr>
          <a:xfrm>
            <a:off x="1667055" y="52270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5 - Selecionar funcionários do departamento de vendas: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F29EDC-54E6-7C20-7F95-676BE2428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311" y="1136060"/>
            <a:ext cx="7964011" cy="89547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E620E85-A83B-C538-F5C8-2278052859EF}"/>
              </a:ext>
            </a:extLst>
          </p:cNvPr>
          <p:cNvSpPr txBox="1"/>
          <p:nvPr/>
        </p:nvSpPr>
        <p:spPr>
          <a:xfrm>
            <a:off x="1667055" y="225468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6 - Obter os funcionários que não estão na função de gerente: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08B841D-7822-F455-143E-52A4012E3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205" y="2750320"/>
            <a:ext cx="8040222" cy="91452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4E6A82-FC93-E127-2585-5CDC6123F16D}"/>
              </a:ext>
            </a:extLst>
          </p:cNvPr>
          <p:cNvSpPr txBox="1"/>
          <p:nvPr/>
        </p:nvSpPr>
        <p:spPr>
          <a:xfrm>
            <a:off x="1667055" y="3882481"/>
            <a:ext cx="6797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7 - Listar funcionários com mais de 50 anos que residem no Brasil: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537018A-18FA-B3F3-A14A-F5A499FF0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332" y="4432420"/>
            <a:ext cx="8067095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86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DBCF660-8FFD-1546-0BD7-44FE6EC4FCF6}"/>
              </a:ext>
            </a:extLst>
          </p:cNvPr>
          <p:cNvSpPr txBox="1"/>
          <p:nvPr/>
        </p:nvSpPr>
        <p:spPr>
          <a:xfrm>
            <a:off x="1537657" y="638680"/>
            <a:ext cx="8719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8 - Encontrar funcionários que não estão na função de gerente e que ganham menos de R$ 4.000,00: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173F0E-DE3E-094A-E58E-61CB1B16A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123" y="1442911"/>
            <a:ext cx="8287907" cy="79068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576D2B-FD6D-3274-E383-7DB2C0B95143}"/>
              </a:ext>
            </a:extLst>
          </p:cNvPr>
          <p:cNvSpPr txBox="1"/>
          <p:nvPr/>
        </p:nvSpPr>
        <p:spPr>
          <a:xfrm>
            <a:off x="1537657" y="2687453"/>
            <a:ext cx="8606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9 - Obter os funcionários que entraram na empresa após 2010 e que possuem avaliação de desempenho superior a 3: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9B77FC7-6BD3-D18C-4451-76428E39D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0123" y="3636038"/>
            <a:ext cx="8649907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05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432262-6718-D3FF-F9CE-5ED383FB635D}"/>
              </a:ext>
            </a:extLst>
          </p:cNvPr>
          <p:cNvSpPr txBox="1"/>
          <p:nvPr/>
        </p:nvSpPr>
        <p:spPr>
          <a:xfrm>
            <a:off x="1013962" y="1779655"/>
            <a:ext cx="1038404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bg1"/>
                </a:solidFill>
              </a:rPr>
              <a:t>Os operadores relacionais podem ser usados ​​com qualquer tipo de dados, como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r>
              <a:rPr lang="pt-BR" dirty="0">
                <a:solidFill>
                  <a:schemeClr val="bg1"/>
                </a:solidFill>
              </a:rPr>
              <a:t>, números e datas.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bg1"/>
                </a:solidFill>
              </a:rPr>
              <a:t>É importante usar o tipo de dados correto ao comparar valores. Por exemplo, não é possível comparar uma </a:t>
            </a:r>
            <a:r>
              <a:rPr lang="pt-BR" dirty="0" err="1">
                <a:solidFill>
                  <a:schemeClr val="bg1"/>
                </a:solidFill>
              </a:rPr>
              <a:t>string</a:t>
            </a:r>
            <a:r>
              <a:rPr lang="pt-BR" dirty="0">
                <a:solidFill>
                  <a:schemeClr val="bg1"/>
                </a:solidFill>
              </a:rPr>
              <a:t> com um número.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bg1"/>
                </a:solidFill>
              </a:rPr>
              <a:t>Os operadores relacionais podem ser usados ​​em conjunto com outros operadores para criar expressões complexas.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475B10-DC40-A182-4C4B-E32BB1318BBA}"/>
              </a:ext>
            </a:extLst>
          </p:cNvPr>
          <p:cNvSpPr txBox="1"/>
          <p:nvPr/>
        </p:nvSpPr>
        <p:spPr>
          <a:xfrm>
            <a:off x="3048719" y="8925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FF0066"/>
                </a:solidFill>
              </a:rPr>
              <a:t>Sobre operadores Aritméticos</a:t>
            </a:r>
          </a:p>
        </p:txBody>
      </p:sp>
    </p:spTree>
    <p:extLst>
      <p:ext uri="{BB962C8B-B14F-4D97-AF65-F5344CB8AC3E}">
        <p14:creationId xmlns:p14="http://schemas.microsoft.com/office/powerpoint/2010/main" val="49323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273C515-29C3-5908-9ACB-6B2205B78CAF}"/>
              </a:ext>
            </a:extLst>
          </p:cNvPr>
          <p:cNvSpPr txBox="1"/>
          <p:nvPr/>
        </p:nvSpPr>
        <p:spPr>
          <a:xfrm>
            <a:off x="4822166" y="2645449"/>
            <a:ext cx="22637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66"/>
                </a:solidFill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90148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335-7C64-1F60-4635-F1C6844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DCA3596-54AD-B0A2-2A09-2EE8160D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E42B2-8CA3-0691-00B3-94A123BA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098937-40EF-DA3B-4F0E-56343337688C}"/>
              </a:ext>
            </a:extLst>
          </p:cNvPr>
          <p:cNvSpPr txBox="1"/>
          <p:nvPr/>
        </p:nvSpPr>
        <p:spPr>
          <a:xfrm>
            <a:off x="1225562" y="1836837"/>
            <a:ext cx="105069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chemeClr val="bg1"/>
                </a:solidFill>
                <a:effectLst/>
                <a:latin typeface="Google Sans"/>
              </a:rPr>
              <a:t>Tutoriais sobre operadores aritméticos: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FF"/>
                </a:solidFill>
                <a:effectLst/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</a:t>
            </a:r>
            <a:r>
              <a:rPr lang="pt-BR" b="0" i="0" dirty="0" err="1">
                <a:solidFill>
                  <a:srgbClr val="0000FF"/>
                </a:solidFill>
                <a:effectLst/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sql_operators</a:t>
            </a:r>
            <a:r>
              <a:rPr lang="pt-BR" b="0" i="0" dirty="0">
                <a:solidFill>
                  <a:srgbClr val="0000FF"/>
                </a:solidFill>
                <a:effectLst/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pt-BR" b="0" i="0" dirty="0">
              <a:solidFill>
                <a:srgbClr val="0000FF"/>
              </a:solidFill>
              <a:effectLst/>
              <a:latin typeface="Google Sans"/>
            </a:endParaRPr>
          </a:p>
          <a:p>
            <a:pPr algn="l"/>
            <a:endParaRPr lang="pt-BR" dirty="0">
              <a:solidFill>
                <a:srgbClr val="0000FF"/>
              </a:solidFill>
              <a:latin typeface="Google Sans"/>
            </a:endParaRPr>
          </a:p>
          <a:p>
            <a:r>
              <a:rPr lang="pt-BR" b="0" i="0" dirty="0">
                <a:solidFill>
                  <a:schemeClr val="bg1"/>
                </a:solidFill>
                <a:effectLst/>
                <a:latin typeface="Google Sans"/>
              </a:rPr>
              <a:t>Exercícios práticos sobre operadores SQL:</a:t>
            </a:r>
          </a:p>
          <a:p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 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  <a:hlinkClick r:id="rId6"/>
              </a:rPr>
              <a:t>https://sqlzoo.net/</a:t>
            </a:r>
            <a:endParaRPr lang="pt-BR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Google Sans"/>
              </a:rPr>
              <a:t>Documentação Oracle sobre operadores Aritméticos</a:t>
            </a:r>
          </a:p>
          <a:p>
            <a:pPr algn="l"/>
            <a:r>
              <a:rPr lang="pt-BR" b="0" i="0" dirty="0">
                <a:solidFill>
                  <a:schemeClr val="bg1"/>
                </a:solidFill>
                <a:effectLst/>
                <a:latin typeface="Google Sans"/>
                <a:hlinkClick r:id="rId7"/>
              </a:rPr>
              <a:t>https://docs.oracle.com/en/database/oracle/oracle-database/19/sqlrf/Arithmetic-Operators.html#GUID-46CD9FD8-FC94-44BA-AA62-30A16063EAAE</a:t>
            </a:r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l"/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l"/>
            <a:r>
              <a:rPr lang="pt-BR" dirty="0">
                <a:solidFill>
                  <a:schemeClr val="bg1"/>
                </a:solidFill>
                <a:latin typeface="Google Sans"/>
              </a:rPr>
              <a:t>Documentação Oracle sobre SQL</a:t>
            </a:r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l"/>
            <a:r>
              <a:rPr lang="pt-BR" b="0" i="0" dirty="0">
                <a:solidFill>
                  <a:schemeClr val="bg1"/>
                </a:solidFill>
                <a:effectLst/>
                <a:latin typeface="Google Sans"/>
                <a:hlinkClick r:id="rId8"/>
              </a:rPr>
              <a:t>https://docs.oracle.com/en/database/oracle/oracle-database/19/sqlrf/Introduction-to-Oracle-SQL.html#GUID-049B7AE8-11E1-4110-B3E4-D117907D77AC</a:t>
            </a:r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l"/>
            <a:endParaRPr lang="pt-BR" dirty="0">
              <a:solidFill>
                <a:schemeClr val="bg1"/>
              </a:solidFill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chemeClr val="bg1"/>
              </a:solidFill>
              <a:effectLst/>
              <a:latin typeface="Google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1AF99A-451D-19C2-4765-23A0A92ABB84}"/>
              </a:ext>
            </a:extLst>
          </p:cNvPr>
          <p:cNvSpPr txBox="1"/>
          <p:nvPr/>
        </p:nvSpPr>
        <p:spPr>
          <a:xfrm>
            <a:off x="4295955" y="758414"/>
            <a:ext cx="255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Referências Bibliográficas</a:t>
            </a:r>
          </a:p>
        </p:txBody>
      </p:sp>
    </p:spTree>
    <p:extLst>
      <p:ext uri="{BB962C8B-B14F-4D97-AF65-F5344CB8AC3E}">
        <p14:creationId xmlns:p14="http://schemas.microsoft.com/office/powerpoint/2010/main" val="251673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yout_fiap" id="{2383647E-820B-4C83-AADC-2C712C5A2FE5}" vid="{EE08BF66-BEB2-4864-A0C6-F55C3F60AFB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A06421-1B55-4DB4-92BB-107BFC59D7AF}">
  <we:reference id="wa200005566" version="3.0.0.2" store="pt-B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1dc2a5-f87b-4340-a568-c485be23fc7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E8FFB4BADE9C4AA27420827F0B6B02" ma:contentTypeVersion="12" ma:contentTypeDescription="Crie um novo documento." ma:contentTypeScope="" ma:versionID="8eda228dbfb4ebf69b34bd2605e74849">
  <xsd:schema xmlns:xsd="http://www.w3.org/2001/XMLSchema" xmlns:xs="http://www.w3.org/2001/XMLSchema" xmlns:p="http://schemas.microsoft.com/office/2006/metadata/properties" xmlns:ns3="3c1dc2a5-f87b-4340-a568-c485be23fc77" xmlns:ns4="2252625f-9dae-43d1-b737-452d42f6f3f1" targetNamespace="http://schemas.microsoft.com/office/2006/metadata/properties" ma:root="true" ma:fieldsID="56d0fa646dc12c2cd39f9dcc7254de8d" ns3:_="" ns4:_="">
    <xsd:import namespace="3c1dc2a5-f87b-4340-a568-c485be23fc77"/>
    <xsd:import namespace="2252625f-9dae-43d1-b737-452d42f6f3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dc2a5-f87b-4340-a568-c485be23fc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2625f-9dae-43d1-b737-452d42f6f3f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A0C59D-4771-43B5-B6A9-E65F8F251B04}">
  <ds:schemaRefs>
    <ds:schemaRef ds:uri="2252625f-9dae-43d1-b737-452d42f6f3f1"/>
    <ds:schemaRef ds:uri="http://schemas.microsoft.com/office/infopath/2007/PartnerControls"/>
    <ds:schemaRef ds:uri="http://schemas.microsoft.com/office/2006/documentManagement/types"/>
    <ds:schemaRef ds:uri="3c1dc2a5-f87b-4340-a568-c485be23fc77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08B5A7-CCFA-45A2-98E2-90D369CEBC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9D4DAF-A943-4F93-B32D-452708EE5B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1dc2a5-f87b-4340-a568-c485be23fc77"/>
    <ds:schemaRef ds:uri="2252625f-9dae-43d1-b737-452d42f6f3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layout_fiap</Template>
  <TotalTime>146</TotalTime>
  <Words>1472</Words>
  <Application>Microsoft Office PowerPoint</Application>
  <PresentationFormat>Widescreen</PresentationFormat>
  <Paragraphs>219</Paragraphs>
  <Slides>21</Slides>
  <Notes>21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Aptos Narrow</vt:lpstr>
      <vt:lpstr>Arial</vt:lpstr>
      <vt:lpstr>Calibri</vt:lpstr>
      <vt:lpstr>Courier New</vt:lpstr>
      <vt:lpstr>Google Sans</vt:lpstr>
      <vt:lpstr>Söhne</vt:lpstr>
      <vt:lpstr>Wingdings</vt:lpstr>
      <vt:lpstr>Tema do Office</vt:lpstr>
      <vt:lpstr>Microsoft Excel 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Vergílio Valério dos Santos</dc:creator>
  <cp:lastModifiedBy>Vergílio Valério dos Santos</cp:lastModifiedBy>
  <cp:revision>2</cp:revision>
  <dcterms:created xsi:type="dcterms:W3CDTF">2024-03-10T21:09:22Z</dcterms:created>
  <dcterms:modified xsi:type="dcterms:W3CDTF">2024-03-10T23:35:33Z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0x01010025E8FFB4BADE9C4AA27420827F0B6B02</vt:lpwstr>
  </property>
</Properties>
</file>