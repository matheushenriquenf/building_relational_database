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1"/>
  </p:notesMasterIdLst>
  <p:sldIdLst>
    <p:sldId id="294" r:id="rId5"/>
    <p:sldId id="296" r:id="rId6"/>
    <p:sldId id="257" r:id="rId7"/>
    <p:sldId id="260" r:id="rId8"/>
    <p:sldId id="258"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132"/>
    <a:srgbClr val="FF0066"/>
    <a:srgbClr val="A02B93"/>
    <a:srgbClr val="FFFFFF"/>
    <a:srgbClr val="0F9E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4" d="100"/>
          <a:sy n="104" d="100"/>
        </p:scale>
        <p:origin x="13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5020DA-F914-4C9A-84D1-B09C5A9F4CC7}" type="datetimeFigureOut">
              <a:rPr lang="pt-BR" smtClean="0"/>
              <a:t>17/03/2024</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A42680-86C7-4158-B3EB-D19B8A7CBE8E}" type="slidenum">
              <a:rPr lang="pt-BR" smtClean="0"/>
              <a:t>‹nº›</a:t>
            </a:fld>
            <a:endParaRPr lang="pt-BR"/>
          </a:p>
        </p:txBody>
      </p:sp>
    </p:spTree>
    <p:extLst>
      <p:ext uri="{BB962C8B-B14F-4D97-AF65-F5344CB8AC3E}">
        <p14:creationId xmlns:p14="http://schemas.microsoft.com/office/powerpoint/2010/main" val="532707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12C55BD2-FBEE-2B43-BCA3-95F743A4C724}" type="slidenum">
              <a:rPr lang="en-US" smtClean="0"/>
              <a:t>1</a:t>
            </a:fld>
            <a:endParaRPr lang="en-US" dirty="0"/>
          </a:p>
        </p:txBody>
      </p:sp>
    </p:spTree>
    <p:extLst>
      <p:ext uri="{BB962C8B-B14F-4D97-AF65-F5344CB8AC3E}">
        <p14:creationId xmlns:p14="http://schemas.microsoft.com/office/powerpoint/2010/main" val="1413051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1000" y="685800"/>
            <a:ext cx="609600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12C55BD2-FBEE-2B43-BCA3-95F743A4C724}" type="slidenum">
              <a:rPr lang="en-US" smtClean="0"/>
              <a:t>2</a:t>
            </a:fld>
            <a:endParaRPr lang="en-US" dirty="0"/>
          </a:p>
        </p:txBody>
      </p:sp>
    </p:spTree>
    <p:extLst>
      <p:ext uri="{BB962C8B-B14F-4D97-AF65-F5344CB8AC3E}">
        <p14:creationId xmlns:p14="http://schemas.microsoft.com/office/powerpoint/2010/main" val="27971413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FD4B37-7B91-CAE8-9978-7EBCE96C04D6}"/>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7BA47EF4-FB9A-6DCB-A265-8301F9F8C1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180491C9-5631-1A42-36D7-D0875427D298}"/>
              </a:ext>
            </a:extLst>
          </p:cNvPr>
          <p:cNvSpPr>
            <a:spLocks noGrp="1"/>
          </p:cNvSpPr>
          <p:nvPr>
            <p:ph type="dt" sz="half" idx="10"/>
          </p:nvPr>
        </p:nvSpPr>
        <p:spPr/>
        <p:txBody>
          <a:bodyPr/>
          <a:lstStyle/>
          <a:p>
            <a:fld id="{FCA30BD0-732C-456D-B6EB-322A0F31D9AB}" type="datetimeFigureOut">
              <a:rPr lang="pt-BR" smtClean="0"/>
              <a:t>17/03/2024</a:t>
            </a:fld>
            <a:endParaRPr lang="pt-BR"/>
          </a:p>
        </p:txBody>
      </p:sp>
      <p:sp>
        <p:nvSpPr>
          <p:cNvPr id="5" name="Espaço Reservado para Rodapé 4">
            <a:extLst>
              <a:ext uri="{FF2B5EF4-FFF2-40B4-BE49-F238E27FC236}">
                <a16:creationId xmlns:a16="http://schemas.microsoft.com/office/drawing/2014/main" id="{AAC17E03-E9BD-AC83-8CC3-FE7C7ABD20B2}"/>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561B7F0F-9F6F-60BD-06D6-410D567EBCAB}"/>
              </a:ext>
            </a:extLst>
          </p:cNvPr>
          <p:cNvSpPr>
            <a:spLocks noGrp="1"/>
          </p:cNvSpPr>
          <p:nvPr>
            <p:ph type="sldNum" sz="quarter" idx="12"/>
          </p:nvPr>
        </p:nvSpPr>
        <p:spPr/>
        <p:txBody>
          <a:bodyPr/>
          <a:lstStyle/>
          <a:p>
            <a:fld id="{6B041288-BD9B-4DF8-B575-A590523DD934}" type="slidenum">
              <a:rPr lang="pt-BR" smtClean="0"/>
              <a:t>‹nº›</a:t>
            </a:fld>
            <a:endParaRPr lang="pt-BR"/>
          </a:p>
        </p:txBody>
      </p:sp>
    </p:spTree>
    <p:extLst>
      <p:ext uri="{BB962C8B-B14F-4D97-AF65-F5344CB8AC3E}">
        <p14:creationId xmlns:p14="http://schemas.microsoft.com/office/powerpoint/2010/main" val="2812591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2A2974-6187-C670-318C-825F0757BC89}"/>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8CE4AE5E-EFA3-8DB1-B3FF-34D8716C8103}"/>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36EFDB8-222F-64EE-D0C9-6A7704FA5FAF}"/>
              </a:ext>
            </a:extLst>
          </p:cNvPr>
          <p:cNvSpPr>
            <a:spLocks noGrp="1"/>
          </p:cNvSpPr>
          <p:nvPr>
            <p:ph type="dt" sz="half" idx="10"/>
          </p:nvPr>
        </p:nvSpPr>
        <p:spPr/>
        <p:txBody>
          <a:bodyPr/>
          <a:lstStyle/>
          <a:p>
            <a:fld id="{FCA30BD0-732C-456D-B6EB-322A0F31D9AB}" type="datetimeFigureOut">
              <a:rPr lang="pt-BR" smtClean="0"/>
              <a:t>17/03/2024</a:t>
            </a:fld>
            <a:endParaRPr lang="pt-BR"/>
          </a:p>
        </p:txBody>
      </p:sp>
      <p:sp>
        <p:nvSpPr>
          <p:cNvPr id="5" name="Espaço Reservado para Rodapé 4">
            <a:extLst>
              <a:ext uri="{FF2B5EF4-FFF2-40B4-BE49-F238E27FC236}">
                <a16:creationId xmlns:a16="http://schemas.microsoft.com/office/drawing/2014/main" id="{B96E14DB-0D1F-56D4-F213-443D2F95B0BE}"/>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9E566ED-6DF5-6F86-2030-144DF71DE1FC}"/>
              </a:ext>
            </a:extLst>
          </p:cNvPr>
          <p:cNvSpPr>
            <a:spLocks noGrp="1"/>
          </p:cNvSpPr>
          <p:nvPr>
            <p:ph type="sldNum" sz="quarter" idx="12"/>
          </p:nvPr>
        </p:nvSpPr>
        <p:spPr/>
        <p:txBody>
          <a:bodyPr/>
          <a:lstStyle/>
          <a:p>
            <a:fld id="{6B041288-BD9B-4DF8-B575-A590523DD934}" type="slidenum">
              <a:rPr lang="pt-BR" smtClean="0"/>
              <a:t>‹nº›</a:t>
            </a:fld>
            <a:endParaRPr lang="pt-BR"/>
          </a:p>
        </p:txBody>
      </p:sp>
    </p:spTree>
    <p:extLst>
      <p:ext uri="{BB962C8B-B14F-4D97-AF65-F5344CB8AC3E}">
        <p14:creationId xmlns:p14="http://schemas.microsoft.com/office/powerpoint/2010/main" val="3406864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ADF53E-21CA-BCC6-87F7-A99C08F61FAA}"/>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D55C7166-87F3-CE64-7BA0-EC2619294B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311C7888-7EA2-64F4-370E-F35A1816079D}"/>
              </a:ext>
            </a:extLst>
          </p:cNvPr>
          <p:cNvSpPr>
            <a:spLocks noGrp="1"/>
          </p:cNvSpPr>
          <p:nvPr>
            <p:ph type="dt" sz="half" idx="10"/>
          </p:nvPr>
        </p:nvSpPr>
        <p:spPr/>
        <p:txBody>
          <a:bodyPr/>
          <a:lstStyle/>
          <a:p>
            <a:fld id="{FCA30BD0-732C-456D-B6EB-322A0F31D9AB}" type="datetimeFigureOut">
              <a:rPr lang="pt-BR" smtClean="0"/>
              <a:t>17/03/2024</a:t>
            </a:fld>
            <a:endParaRPr lang="pt-BR"/>
          </a:p>
        </p:txBody>
      </p:sp>
      <p:sp>
        <p:nvSpPr>
          <p:cNvPr id="5" name="Espaço Reservado para Rodapé 4">
            <a:extLst>
              <a:ext uri="{FF2B5EF4-FFF2-40B4-BE49-F238E27FC236}">
                <a16:creationId xmlns:a16="http://schemas.microsoft.com/office/drawing/2014/main" id="{7768B016-4B45-B8D6-4B83-AED6DDC470C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F3758A3D-5B2C-DD9A-9E35-DFC1F3B33092}"/>
              </a:ext>
            </a:extLst>
          </p:cNvPr>
          <p:cNvSpPr>
            <a:spLocks noGrp="1"/>
          </p:cNvSpPr>
          <p:nvPr>
            <p:ph type="sldNum" sz="quarter" idx="12"/>
          </p:nvPr>
        </p:nvSpPr>
        <p:spPr/>
        <p:txBody>
          <a:bodyPr/>
          <a:lstStyle/>
          <a:p>
            <a:fld id="{6B041288-BD9B-4DF8-B575-A590523DD934}" type="slidenum">
              <a:rPr lang="pt-BR" smtClean="0"/>
              <a:t>‹nº›</a:t>
            </a:fld>
            <a:endParaRPr lang="pt-BR"/>
          </a:p>
        </p:txBody>
      </p:sp>
    </p:spTree>
    <p:extLst>
      <p:ext uri="{BB962C8B-B14F-4D97-AF65-F5344CB8AC3E}">
        <p14:creationId xmlns:p14="http://schemas.microsoft.com/office/powerpoint/2010/main" val="2579830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81AE81-983A-D0E1-732D-7FD5A4066D3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C43A31F8-BAC3-C754-2091-9448299F8D85}"/>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385CC296-1999-ABD0-F018-8D07F658521A}"/>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1D18A71C-1B49-0EA4-95CE-282D22CE0D7B}"/>
              </a:ext>
            </a:extLst>
          </p:cNvPr>
          <p:cNvSpPr>
            <a:spLocks noGrp="1"/>
          </p:cNvSpPr>
          <p:nvPr>
            <p:ph type="dt" sz="half" idx="10"/>
          </p:nvPr>
        </p:nvSpPr>
        <p:spPr/>
        <p:txBody>
          <a:bodyPr/>
          <a:lstStyle/>
          <a:p>
            <a:fld id="{FCA30BD0-732C-456D-B6EB-322A0F31D9AB}" type="datetimeFigureOut">
              <a:rPr lang="pt-BR" smtClean="0"/>
              <a:t>17/03/2024</a:t>
            </a:fld>
            <a:endParaRPr lang="pt-BR"/>
          </a:p>
        </p:txBody>
      </p:sp>
      <p:sp>
        <p:nvSpPr>
          <p:cNvPr id="6" name="Espaço Reservado para Rodapé 5">
            <a:extLst>
              <a:ext uri="{FF2B5EF4-FFF2-40B4-BE49-F238E27FC236}">
                <a16:creationId xmlns:a16="http://schemas.microsoft.com/office/drawing/2014/main" id="{B9D073AA-8491-CC11-43BC-7866928B8EC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8FC255A-A1CC-E190-1971-524DD6277801}"/>
              </a:ext>
            </a:extLst>
          </p:cNvPr>
          <p:cNvSpPr>
            <a:spLocks noGrp="1"/>
          </p:cNvSpPr>
          <p:nvPr>
            <p:ph type="sldNum" sz="quarter" idx="12"/>
          </p:nvPr>
        </p:nvSpPr>
        <p:spPr/>
        <p:txBody>
          <a:bodyPr/>
          <a:lstStyle/>
          <a:p>
            <a:fld id="{6B041288-BD9B-4DF8-B575-A590523DD934}" type="slidenum">
              <a:rPr lang="pt-BR" smtClean="0"/>
              <a:t>‹nº›</a:t>
            </a:fld>
            <a:endParaRPr lang="pt-BR"/>
          </a:p>
        </p:txBody>
      </p:sp>
    </p:spTree>
    <p:extLst>
      <p:ext uri="{BB962C8B-B14F-4D97-AF65-F5344CB8AC3E}">
        <p14:creationId xmlns:p14="http://schemas.microsoft.com/office/powerpoint/2010/main" val="1326630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953927-2736-8315-6107-2D8B3A181E4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2812B3B-25B5-7A34-1349-5409E1EF58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060F857F-5AE3-D4EA-3A73-9DB7AE4AB350}"/>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80735710-7B1D-82B7-3BD0-B55F2A70D5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4B5039AD-8903-6894-23B1-AD8DC692E72E}"/>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88F7FAD-06BC-0B88-1257-38255E5CEC27}"/>
              </a:ext>
            </a:extLst>
          </p:cNvPr>
          <p:cNvSpPr>
            <a:spLocks noGrp="1"/>
          </p:cNvSpPr>
          <p:nvPr>
            <p:ph type="dt" sz="half" idx="10"/>
          </p:nvPr>
        </p:nvSpPr>
        <p:spPr/>
        <p:txBody>
          <a:bodyPr/>
          <a:lstStyle/>
          <a:p>
            <a:fld id="{FCA30BD0-732C-456D-B6EB-322A0F31D9AB}" type="datetimeFigureOut">
              <a:rPr lang="pt-BR" smtClean="0"/>
              <a:t>17/03/2024</a:t>
            </a:fld>
            <a:endParaRPr lang="pt-BR"/>
          </a:p>
        </p:txBody>
      </p:sp>
      <p:sp>
        <p:nvSpPr>
          <p:cNvPr id="8" name="Espaço Reservado para Rodapé 7">
            <a:extLst>
              <a:ext uri="{FF2B5EF4-FFF2-40B4-BE49-F238E27FC236}">
                <a16:creationId xmlns:a16="http://schemas.microsoft.com/office/drawing/2014/main" id="{36F231F2-E94D-9D27-4F38-43719F78711D}"/>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F319B03E-99D7-418A-E296-B1B0B38C0FDD}"/>
              </a:ext>
            </a:extLst>
          </p:cNvPr>
          <p:cNvSpPr>
            <a:spLocks noGrp="1"/>
          </p:cNvSpPr>
          <p:nvPr>
            <p:ph type="sldNum" sz="quarter" idx="12"/>
          </p:nvPr>
        </p:nvSpPr>
        <p:spPr/>
        <p:txBody>
          <a:bodyPr/>
          <a:lstStyle/>
          <a:p>
            <a:fld id="{6B041288-BD9B-4DF8-B575-A590523DD934}" type="slidenum">
              <a:rPr lang="pt-BR" smtClean="0"/>
              <a:t>‹nº›</a:t>
            </a:fld>
            <a:endParaRPr lang="pt-BR"/>
          </a:p>
        </p:txBody>
      </p:sp>
    </p:spTree>
    <p:extLst>
      <p:ext uri="{BB962C8B-B14F-4D97-AF65-F5344CB8AC3E}">
        <p14:creationId xmlns:p14="http://schemas.microsoft.com/office/powerpoint/2010/main" val="25883632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C0865A-670C-F269-A7AA-23729F03A56C}"/>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ACC14BE5-F8D6-A0B4-7162-289D13254AA4}"/>
              </a:ext>
            </a:extLst>
          </p:cNvPr>
          <p:cNvSpPr>
            <a:spLocks noGrp="1"/>
          </p:cNvSpPr>
          <p:nvPr>
            <p:ph type="dt" sz="half" idx="10"/>
          </p:nvPr>
        </p:nvSpPr>
        <p:spPr/>
        <p:txBody>
          <a:bodyPr/>
          <a:lstStyle/>
          <a:p>
            <a:fld id="{FCA30BD0-732C-456D-B6EB-322A0F31D9AB}" type="datetimeFigureOut">
              <a:rPr lang="pt-BR" smtClean="0"/>
              <a:t>17/03/2024</a:t>
            </a:fld>
            <a:endParaRPr lang="pt-BR"/>
          </a:p>
        </p:txBody>
      </p:sp>
      <p:sp>
        <p:nvSpPr>
          <p:cNvPr id="4" name="Espaço Reservado para Rodapé 3">
            <a:extLst>
              <a:ext uri="{FF2B5EF4-FFF2-40B4-BE49-F238E27FC236}">
                <a16:creationId xmlns:a16="http://schemas.microsoft.com/office/drawing/2014/main" id="{67C300DD-3D09-58E8-14C7-5020BA72ABC2}"/>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BCB60E52-66C0-49D7-E17A-2B61F4B1D12A}"/>
              </a:ext>
            </a:extLst>
          </p:cNvPr>
          <p:cNvSpPr>
            <a:spLocks noGrp="1"/>
          </p:cNvSpPr>
          <p:nvPr>
            <p:ph type="sldNum" sz="quarter" idx="12"/>
          </p:nvPr>
        </p:nvSpPr>
        <p:spPr/>
        <p:txBody>
          <a:bodyPr/>
          <a:lstStyle/>
          <a:p>
            <a:fld id="{6B041288-BD9B-4DF8-B575-A590523DD934}" type="slidenum">
              <a:rPr lang="pt-BR" smtClean="0"/>
              <a:t>‹nº›</a:t>
            </a:fld>
            <a:endParaRPr lang="pt-BR"/>
          </a:p>
        </p:txBody>
      </p:sp>
    </p:spTree>
    <p:extLst>
      <p:ext uri="{BB962C8B-B14F-4D97-AF65-F5344CB8AC3E}">
        <p14:creationId xmlns:p14="http://schemas.microsoft.com/office/powerpoint/2010/main" val="2783832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F4859A13-B741-3961-B349-59F0416BC946}"/>
              </a:ext>
            </a:extLst>
          </p:cNvPr>
          <p:cNvSpPr>
            <a:spLocks noGrp="1"/>
          </p:cNvSpPr>
          <p:nvPr>
            <p:ph type="dt" sz="half" idx="10"/>
          </p:nvPr>
        </p:nvSpPr>
        <p:spPr/>
        <p:txBody>
          <a:bodyPr/>
          <a:lstStyle/>
          <a:p>
            <a:fld id="{FCA30BD0-732C-456D-B6EB-322A0F31D9AB}" type="datetimeFigureOut">
              <a:rPr lang="pt-BR" smtClean="0"/>
              <a:t>17/03/2024</a:t>
            </a:fld>
            <a:endParaRPr lang="pt-BR"/>
          </a:p>
        </p:txBody>
      </p:sp>
      <p:sp>
        <p:nvSpPr>
          <p:cNvPr id="3" name="Espaço Reservado para Rodapé 2">
            <a:extLst>
              <a:ext uri="{FF2B5EF4-FFF2-40B4-BE49-F238E27FC236}">
                <a16:creationId xmlns:a16="http://schemas.microsoft.com/office/drawing/2014/main" id="{5463185F-9EEE-0114-DCE2-8C9FF87B2F6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A0419506-29EE-F807-759A-E46D7CFD4B10}"/>
              </a:ext>
            </a:extLst>
          </p:cNvPr>
          <p:cNvSpPr>
            <a:spLocks noGrp="1"/>
          </p:cNvSpPr>
          <p:nvPr>
            <p:ph type="sldNum" sz="quarter" idx="12"/>
          </p:nvPr>
        </p:nvSpPr>
        <p:spPr/>
        <p:txBody>
          <a:bodyPr/>
          <a:lstStyle/>
          <a:p>
            <a:fld id="{6B041288-BD9B-4DF8-B575-A590523DD934}" type="slidenum">
              <a:rPr lang="pt-BR" smtClean="0"/>
              <a:t>‹nº›</a:t>
            </a:fld>
            <a:endParaRPr lang="pt-BR"/>
          </a:p>
        </p:txBody>
      </p:sp>
    </p:spTree>
    <p:extLst>
      <p:ext uri="{BB962C8B-B14F-4D97-AF65-F5344CB8AC3E}">
        <p14:creationId xmlns:p14="http://schemas.microsoft.com/office/powerpoint/2010/main" val="1693603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E0ED37-5999-3B4D-2A81-4647324F4DBD}"/>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ACFDA66A-F2F0-9231-3DAC-19FDF5808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6C8C710E-F357-73FA-0A0F-67F3213D06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4780FD60-487B-2C53-2E7F-CCD743A1F941}"/>
              </a:ext>
            </a:extLst>
          </p:cNvPr>
          <p:cNvSpPr>
            <a:spLocks noGrp="1"/>
          </p:cNvSpPr>
          <p:nvPr>
            <p:ph type="dt" sz="half" idx="10"/>
          </p:nvPr>
        </p:nvSpPr>
        <p:spPr/>
        <p:txBody>
          <a:bodyPr/>
          <a:lstStyle/>
          <a:p>
            <a:fld id="{FCA30BD0-732C-456D-B6EB-322A0F31D9AB}" type="datetimeFigureOut">
              <a:rPr lang="pt-BR" smtClean="0"/>
              <a:t>17/03/2024</a:t>
            </a:fld>
            <a:endParaRPr lang="pt-BR"/>
          </a:p>
        </p:txBody>
      </p:sp>
      <p:sp>
        <p:nvSpPr>
          <p:cNvPr id="6" name="Espaço Reservado para Rodapé 5">
            <a:extLst>
              <a:ext uri="{FF2B5EF4-FFF2-40B4-BE49-F238E27FC236}">
                <a16:creationId xmlns:a16="http://schemas.microsoft.com/office/drawing/2014/main" id="{94DC15F2-39BD-03E6-57FD-3F7C3171B40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146E151-3BFE-1742-23C9-40D7E37656BD}"/>
              </a:ext>
            </a:extLst>
          </p:cNvPr>
          <p:cNvSpPr>
            <a:spLocks noGrp="1"/>
          </p:cNvSpPr>
          <p:nvPr>
            <p:ph type="sldNum" sz="quarter" idx="12"/>
          </p:nvPr>
        </p:nvSpPr>
        <p:spPr/>
        <p:txBody>
          <a:bodyPr/>
          <a:lstStyle/>
          <a:p>
            <a:fld id="{6B041288-BD9B-4DF8-B575-A590523DD934}" type="slidenum">
              <a:rPr lang="pt-BR" smtClean="0"/>
              <a:t>‹nº›</a:t>
            </a:fld>
            <a:endParaRPr lang="pt-BR"/>
          </a:p>
        </p:txBody>
      </p:sp>
    </p:spTree>
    <p:extLst>
      <p:ext uri="{BB962C8B-B14F-4D97-AF65-F5344CB8AC3E}">
        <p14:creationId xmlns:p14="http://schemas.microsoft.com/office/powerpoint/2010/main" val="1466114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04B487-13B9-0C9D-E840-F4751B0D990F}"/>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DAF01429-4168-8976-3BC9-90F9268AE9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3DB7A116-B303-2AFE-FF3E-83FA94A8BA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65B5BE71-2B14-BF04-EC31-CC40CE52ABD8}"/>
              </a:ext>
            </a:extLst>
          </p:cNvPr>
          <p:cNvSpPr>
            <a:spLocks noGrp="1"/>
          </p:cNvSpPr>
          <p:nvPr>
            <p:ph type="dt" sz="half" idx="10"/>
          </p:nvPr>
        </p:nvSpPr>
        <p:spPr/>
        <p:txBody>
          <a:bodyPr/>
          <a:lstStyle/>
          <a:p>
            <a:fld id="{FCA30BD0-732C-456D-B6EB-322A0F31D9AB}" type="datetimeFigureOut">
              <a:rPr lang="pt-BR" smtClean="0"/>
              <a:t>17/03/2024</a:t>
            </a:fld>
            <a:endParaRPr lang="pt-BR"/>
          </a:p>
        </p:txBody>
      </p:sp>
      <p:sp>
        <p:nvSpPr>
          <p:cNvPr id="6" name="Espaço Reservado para Rodapé 5">
            <a:extLst>
              <a:ext uri="{FF2B5EF4-FFF2-40B4-BE49-F238E27FC236}">
                <a16:creationId xmlns:a16="http://schemas.microsoft.com/office/drawing/2014/main" id="{7ED0F1BB-B951-26DD-5315-E8F39074E3F9}"/>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B6BB26BF-CBA7-E6BC-E609-786DF7227747}"/>
              </a:ext>
            </a:extLst>
          </p:cNvPr>
          <p:cNvSpPr>
            <a:spLocks noGrp="1"/>
          </p:cNvSpPr>
          <p:nvPr>
            <p:ph type="sldNum" sz="quarter" idx="12"/>
          </p:nvPr>
        </p:nvSpPr>
        <p:spPr/>
        <p:txBody>
          <a:bodyPr/>
          <a:lstStyle/>
          <a:p>
            <a:fld id="{6B041288-BD9B-4DF8-B575-A590523DD934}" type="slidenum">
              <a:rPr lang="pt-BR" smtClean="0"/>
              <a:t>‹nº›</a:t>
            </a:fld>
            <a:endParaRPr lang="pt-BR"/>
          </a:p>
        </p:txBody>
      </p:sp>
    </p:spTree>
    <p:extLst>
      <p:ext uri="{BB962C8B-B14F-4D97-AF65-F5344CB8AC3E}">
        <p14:creationId xmlns:p14="http://schemas.microsoft.com/office/powerpoint/2010/main" val="1394013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4778DA0-F124-D26F-80CA-6BAAEEF7D85E}"/>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CF8F3ABE-A7A0-A6B0-B76D-FEB98FAF3E31}"/>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0ACD2BCE-E7AD-DA0B-B6F2-B8D37C1552C6}"/>
              </a:ext>
            </a:extLst>
          </p:cNvPr>
          <p:cNvSpPr>
            <a:spLocks noGrp="1"/>
          </p:cNvSpPr>
          <p:nvPr>
            <p:ph type="dt" sz="half" idx="10"/>
          </p:nvPr>
        </p:nvSpPr>
        <p:spPr/>
        <p:txBody>
          <a:bodyPr/>
          <a:lstStyle/>
          <a:p>
            <a:fld id="{FCA30BD0-732C-456D-B6EB-322A0F31D9AB}" type="datetimeFigureOut">
              <a:rPr lang="pt-BR" smtClean="0"/>
              <a:t>17/03/2024</a:t>
            </a:fld>
            <a:endParaRPr lang="pt-BR"/>
          </a:p>
        </p:txBody>
      </p:sp>
      <p:sp>
        <p:nvSpPr>
          <p:cNvPr id="5" name="Espaço Reservado para Rodapé 4">
            <a:extLst>
              <a:ext uri="{FF2B5EF4-FFF2-40B4-BE49-F238E27FC236}">
                <a16:creationId xmlns:a16="http://schemas.microsoft.com/office/drawing/2014/main" id="{E7E04744-F86F-D2AD-DC14-65FD995CB48A}"/>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9C865222-18D1-92D7-9D20-8585F9B98B76}"/>
              </a:ext>
            </a:extLst>
          </p:cNvPr>
          <p:cNvSpPr>
            <a:spLocks noGrp="1"/>
          </p:cNvSpPr>
          <p:nvPr>
            <p:ph type="sldNum" sz="quarter" idx="12"/>
          </p:nvPr>
        </p:nvSpPr>
        <p:spPr/>
        <p:txBody>
          <a:bodyPr/>
          <a:lstStyle/>
          <a:p>
            <a:fld id="{6B041288-BD9B-4DF8-B575-A590523DD934}" type="slidenum">
              <a:rPr lang="pt-BR" smtClean="0"/>
              <a:t>‹nº›</a:t>
            </a:fld>
            <a:endParaRPr lang="pt-BR"/>
          </a:p>
        </p:txBody>
      </p:sp>
    </p:spTree>
    <p:extLst>
      <p:ext uri="{BB962C8B-B14F-4D97-AF65-F5344CB8AC3E}">
        <p14:creationId xmlns:p14="http://schemas.microsoft.com/office/powerpoint/2010/main" val="4287886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428395F-8DB7-C83E-AC65-FB25FCF61300}"/>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91201411-D80C-ED49-C31C-9640DE7E52A0}"/>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3B8B64A-6E6B-BED1-6582-1D49B0DD8667}"/>
              </a:ext>
            </a:extLst>
          </p:cNvPr>
          <p:cNvSpPr>
            <a:spLocks noGrp="1"/>
          </p:cNvSpPr>
          <p:nvPr>
            <p:ph type="dt" sz="half" idx="10"/>
          </p:nvPr>
        </p:nvSpPr>
        <p:spPr/>
        <p:txBody>
          <a:bodyPr/>
          <a:lstStyle/>
          <a:p>
            <a:fld id="{FCA30BD0-732C-456D-B6EB-322A0F31D9AB}" type="datetimeFigureOut">
              <a:rPr lang="pt-BR" smtClean="0"/>
              <a:t>17/03/2024</a:t>
            </a:fld>
            <a:endParaRPr lang="pt-BR"/>
          </a:p>
        </p:txBody>
      </p:sp>
      <p:sp>
        <p:nvSpPr>
          <p:cNvPr id="5" name="Espaço Reservado para Rodapé 4">
            <a:extLst>
              <a:ext uri="{FF2B5EF4-FFF2-40B4-BE49-F238E27FC236}">
                <a16:creationId xmlns:a16="http://schemas.microsoft.com/office/drawing/2014/main" id="{B7363D2A-1368-E41D-2DCE-8C32AC08F70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6C948AD-348A-7219-4775-68DFC67FACD9}"/>
              </a:ext>
            </a:extLst>
          </p:cNvPr>
          <p:cNvSpPr>
            <a:spLocks noGrp="1"/>
          </p:cNvSpPr>
          <p:nvPr>
            <p:ph type="sldNum" sz="quarter" idx="12"/>
          </p:nvPr>
        </p:nvSpPr>
        <p:spPr/>
        <p:txBody>
          <a:bodyPr/>
          <a:lstStyle/>
          <a:p>
            <a:fld id="{6B041288-BD9B-4DF8-B575-A590523DD934}" type="slidenum">
              <a:rPr lang="pt-BR" smtClean="0"/>
              <a:t>‹nº›</a:t>
            </a:fld>
            <a:endParaRPr lang="pt-BR"/>
          </a:p>
        </p:txBody>
      </p:sp>
    </p:spTree>
    <p:extLst>
      <p:ext uri="{BB962C8B-B14F-4D97-AF65-F5344CB8AC3E}">
        <p14:creationId xmlns:p14="http://schemas.microsoft.com/office/powerpoint/2010/main" val="15393313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ogo + Blac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856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136BA7D-576F-58DE-6271-CAFAE99B28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8C60D3C4-7B92-280F-2A3F-1FB28D1F2C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B4C9A51-E15C-F7A6-FFAB-86B1FCC096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A30BD0-732C-456D-B6EB-322A0F31D9AB}" type="datetimeFigureOut">
              <a:rPr lang="pt-BR" smtClean="0"/>
              <a:t>17/03/2024</a:t>
            </a:fld>
            <a:endParaRPr lang="pt-BR"/>
          </a:p>
        </p:txBody>
      </p:sp>
      <p:sp>
        <p:nvSpPr>
          <p:cNvPr id="5" name="Espaço Reservado para Rodapé 4">
            <a:extLst>
              <a:ext uri="{FF2B5EF4-FFF2-40B4-BE49-F238E27FC236}">
                <a16:creationId xmlns:a16="http://schemas.microsoft.com/office/drawing/2014/main" id="{486C7540-797C-B009-D6B3-3666794E88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BR"/>
          </a:p>
        </p:txBody>
      </p:sp>
      <p:sp>
        <p:nvSpPr>
          <p:cNvPr id="6" name="Espaço Reservado para Número de Slide 5">
            <a:extLst>
              <a:ext uri="{FF2B5EF4-FFF2-40B4-BE49-F238E27FC236}">
                <a16:creationId xmlns:a16="http://schemas.microsoft.com/office/drawing/2014/main" id="{17EFB775-32AE-6EEB-A950-CC7DFFE72D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041288-BD9B-4DF8-B575-A590523DD934}" type="slidenum">
              <a:rPr lang="pt-BR" smtClean="0"/>
              <a:t>‹nº›</a:t>
            </a:fld>
            <a:endParaRPr lang="pt-BR"/>
          </a:p>
        </p:txBody>
      </p:sp>
    </p:spTree>
    <p:extLst>
      <p:ext uri="{BB962C8B-B14F-4D97-AF65-F5344CB8AC3E}">
        <p14:creationId xmlns:p14="http://schemas.microsoft.com/office/powerpoint/2010/main" val="13713522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p:cNvPicPr>
            <a:picLocks noChangeAspect="1"/>
          </p:cNvPicPr>
          <p:nvPr/>
        </p:nvPicPr>
        <p:blipFill>
          <a:blip r:embed="rId3"/>
          <a:stretch>
            <a:fillRect/>
          </a:stretch>
        </p:blipFill>
        <p:spPr>
          <a:xfrm>
            <a:off x="5641" y="3"/>
            <a:ext cx="12180721" cy="6858000"/>
          </a:xfrm>
          <a:prstGeom prst="rect">
            <a:avLst/>
          </a:prstGeom>
        </p:spPr>
      </p:pic>
      <p:pic>
        <p:nvPicPr>
          <p:cNvPr id="15" name="Picture 14"/>
          <p:cNvPicPr>
            <a:picLocks noChangeAspect="1"/>
          </p:cNvPicPr>
          <p:nvPr/>
        </p:nvPicPr>
        <p:blipFill>
          <a:blip r:embed="rId4"/>
          <a:stretch>
            <a:fillRect/>
          </a:stretch>
        </p:blipFill>
        <p:spPr>
          <a:xfrm>
            <a:off x="301701" y="278672"/>
            <a:ext cx="11588600" cy="6272437"/>
          </a:xfrm>
          <a:prstGeom prst="rect">
            <a:avLst/>
          </a:prstGeom>
        </p:spPr>
      </p:pic>
      <p:pic>
        <p:nvPicPr>
          <p:cNvPr id="16" name="Imagem 1"/>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961367" y="2851616"/>
            <a:ext cx="4269268" cy="1148433"/>
          </a:xfrm>
          <a:prstGeom prst="rect">
            <a:avLst/>
          </a:prstGeom>
        </p:spPr>
      </p:pic>
    </p:spTree>
    <p:extLst>
      <p:ext uri="{BB962C8B-B14F-4D97-AF65-F5344CB8AC3E}">
        <p14:creationId xmlns:p14="http://schemas.microsoft.com/office/powerpoint/2010/main" val="1960772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1A671DE-D529-4A2A-A35D-E974002395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CaixaDeTexto 2">
            <a:extLst>
              <a:ext uri="{FF2B5EF4-FFF2-40B4-BE49-F238E27FC236}">
                <a16:creationId xmlns:a16="http://schemas.microsoft.com/office/drawing/2014/main" id="{1892A6BA-9EE2-D650-2BB5-05E45CFFEF89}"/>
              </a:ext>
            </a:extLst>
          </p:cNvPr>
          <p:cNvSpPr txBox="1"/>
          <p:nvPr/>
        </p:nvSpPr>
        <p:spPr>
          <a:xfrm>
            <a:off x="6523826" y="2752049"/>
            <a:ext cx="4947745" cy="2828462"/>
          </a:xfrm>
          <a:prstGeom prst="rect">
            <a:avLst/>
          </a:prstGeom>
        </p:spPr>
        <p:txBody>
          <a:bodyPr vert="horz" lIns="91440" tIns="45720" rIns="91440" bIns="45720" rtlCol="0" anchor="b">
            <a:normAutofit/>
          </a:bodyPr>
          <a:lstStyle/>
          <a:p>
            <a:pPr algn="ctr" fontAlgn="base">
              <a:lnSpc>
                <a:spcPct val="90000"/>
              </a:lnSpc>
              <a:spcBef>
                <a:spcPct val="0"/>
              </a:spcBef>
              <a:spcAft>
                <a:spcPts val="600"/>
              </a:spcAft>
            </a:pPr>
            <a:r>
              <a:rPr lang="en-US" sz="4200" b="1" i="1" kern="1200" cap="all" dirty="0">
                <a:solidFill>
                  <a:srgbClr val="E97132"/>
                </a:solidFill>
                <a:latin typeface="+mj-lt"/>
                <a:ea typeface="+mj-ea"/>
                <a:cs typeface="+mj-cs"/>
              </a:rPr>
              <a:t>SQL – REALIZANDO CONSULTAS</a:t>
            </a:r>
          </a:p>
          <a:p>
            <a:pPr algn="ctr" fontAlgn="base">
              <a:lnSpc>
                <a:spcPct val="90000"/>
              </a:lnSpc>
              <a:spcBef>
                <a:spcPct val="0"/>
              </a:spcBef>
              <a:spcAft>
                <a:spcPts val="600"/>
              </a:spcAft>
            </a:pPr>
            <a:r>
              <a:rPr lang="en-US" sz="4200" b="1" i="1" kern="1200" cap="all" dirty="0">
                <a:solidFill>
                  <a:srgbClr val="E97132"/>
                </a:solidFill>
                <a:latin typeface="+mj-lt"/>
                <a:ea typeface="+mj-ea"/>
                <a:cs typeface="+mj-cs"/>
              </a:rPr>
              <a:t> NO BANCO DE DADOS</a:t>
            </a:r>
          </a:p>
          <a:p>
            <a:pPr>
              <a:lnSpc>
                <a:spcPct val="90000"/>
              </a:lnSpc>
              <a:spcBef>
                <a:spcPct val="0"/>
              </a:spcBef>
              <a:spcAft>
                <a:spcPts val="600"/>
              </a:spcAft>
            </a:pPr>
            <a:endParaRPr lang="en-US" sz="4200" i="1" kern="1200" dirty="0">
              <a:solidFill>
                <a:srgbClr val="FF0066"/>
              </a:solidFill>
              <a:latin typeface="+mj-lt"/>
              <a:ea typeface="+mj-ea"/>
              <a:cs typeface="+mj-cs"/>
            </a:endParaRPr>
          </a:p>
          <a:p>
            <a:pPr>
              <a:lnSpc>
                <a:spcPct val="90000"/>
              </a:lnSpc>
              <a:spcBef>
                <a:spcPct val="0"/>
              </a:spcBef>
              <a:spcAft>
                <a:spcPts val="600"/>
              </a:spcAft>
            </a:pPr>
            <a:endParaRPr lang="en-US" sz="4200" i="1" kern="1200" dirty="0">
              <a:solidFill>
                <a:srgbClr val="FF0066"/>
              </a:solidFill>
              <a:latin typeface="+mj-lt"/>
              <a:ea typeface="+mj-ea"/>
              <a:cs typeface="+mj-cs"/>
            </a:endParaRPr>
          </a:p>
          <a:p>
            <a:pPr>
              <a:lnSpc>
                <a:spcPct val="90000"/>
              </a:lnSpc>
              <a:spcBef>
                <a:spcPct val="0"/>
              </a:spcBef>
              <a:spcAft>
                <a:spcPts val="600"/>
              </a:spcAft>
            </a:pPr>
            <a:endParaRPr lang="en-US" sz="4200" i="1" kern="1200" dirty="0">
              <a:solidFill>
                <a:srgbClr val="FF0066"/>
              </a:solidFill>
              <a:latin typeface="+mj-lt"/>
              <a:ea typeface="+mj-ea"/>
              <a:cs typeface="+mj-cs"/>
            </a:endParaRPr>
          </a:p>
        </p:txBody>
      </p:sp>
      <p:sp>
        <p:nvSpPr>
          <p:cNvPr id="25" name="Freeform: Shape 24">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12599"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27" name="Straight Connector 2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63649" y="127376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9" name="Block Arc 28">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631431" y="1382395"/>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Freeform: Shape 30">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31329"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sp>
        <p:nvSpPr>
          <p:cNvPr id="33" name="Oval 32">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20126" y="2345836"/>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903228"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c 38">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727948" flipH="1">
            <a:off x="2309492"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3927433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EF946BC-EC85-F076-2F52-9F199657F11E}"/>
              </a:ext>
            </a:extLst>
          </p:cNvPr>
          <p:cNvSpPr>
            <a:spLocks noGrp="1"/>
          </p:cNvSpPr>
          <p:nvPr>
            <p:ph type="title"/>
          </p:nvPr>
        </p:nvSpPr>
        <p:spPr>
          <a:xfrm>
            <a:off x="1171074" y="1396686"/>
            <a:ext cx="3240506" cy="4064628"/>
          </a:xfrm>
        </p:spPr>
        <p:txBody>
          <a:bodyPr>
            <a:normAutofit/>
          </a:bodyPr>
          <a:lstStyle/>
          <a:p>
            <a:r>
              <a:rPr lang="pt-BR">
                <a:solidFill>
                  <a:srgbClr val="FFFFFF"/>
                </a:solidFill>
              </a:rPr>
              <a:t>AGENDA</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Espaço Reservado para Conteúdo 2">
            <a:extLst>
              <a:ext uri="{FF2B5EF4-FFF2-40B4-BE49-F238E27FC236}">
                <a16:creationId xmlns:a16="http://schemas.microsoft.com/office/drawing/2014/main" id="{37D987C8-36AE-28E4-19CE-8BDFA4AD55FE}"/>
              </a:ext>
            </a:extLst>
          </p:cNvPr>
          <p:cNvSpPr>
            <a:spLocks noGrp="1"/>
          </p:cNvSpPr>
          <p:nvPr>
            <p:ph idx="1"/>
          </p:nvPr>
        </p:nvSpPr>
        <p:spPr>
          <a:xfrm>
            <a:off x="5370153" y="1526033"/>
            <a:ext cx="5536397" cy="3935281"/>
          </a:xfrm>
        </p:spPr>
        <p:txBody>
          <a:bodyPr>
            <a:normAutofit/>
          </a:bodyPr>
          <a:lstStyle/>
          <a:p>
            <a:r>
              <a:rPr lang="pt-BR" b="1" i="0" dirty="0">
                <a:solidFill>
                  <a:schemeClr val="bg1"/>
                </a:solidFill>
                <a:effectLst/>
                <a:latin typeface="Google Sans"/>
              </a:rPr>
              <a:t>Definindo o objetivo</a:t>
            </a:r>
          </a:p>
          <a:p>
            <a:r>
              <a:rPr lang="pt-BR" b="1" i="0" dirty="0">
                <a:solidFill>
                  <a:schemeClr val="bg1"/>
                </a:solidFill>
                <a:effectLst/>
                <a:latin typeface="Google Sans"/>
              </a:rPr>
              <a:t>Pesquisar todas as linhas e colunas</a:t>
            </a:r>
          </a:p>
          <a:p>
            <a:r>
              <a:rPr lang="pt-BR" b="1" i="0" dirty="0">
                <a:solidFill>
                  <a:schemeClr val="bg1"/>
                </a:solidFill>
                <a:effectLst/>
                <a:latin typeface="Google Sans"/>
              </a:rPr>
              <a:t>Pesquisar colunas específicas</a:t>
            </a:r>
          </a:p>
          <a:p>
            <a:r>
              <a:rPr lang="pt-BR" b="1" i="0" dirty="0">
                <a:solidFill>
                  <a:schemeClr val="bg1"/>
                </a:solidFill>
                <a:effectLst/>
                <a:latin typeface="Google Sans"/>
              </a:rPr>
              <a:t>Filtrar linhas específicas</a:t>
            </a:r>
          </a:p>
          <a:p>
            <a:r>
              <a:rPr lang="pt-BR" b="1" i="0" dirty="0">
                <a:solidFill>
                  <a:schemeClr val="bg1"/>
                </a:solidFill>
                <a:effectLst/>
                <a:latin typeface="Google Sans"/>
              </a:rPr>
              <a:t>Identificando a tabela</a:t>
            </a:r>
            <a:endParaRPr lang="pt-BR" b="1" dirty="0">
              <a:solidFill>
                <a:schemeClr val="bg1"/>
              </a:solidFill>
              <a:latin typeface="Google Sans"/>
            </a:endParaRPr>
          </a:p>
          <a:p>
            <a:r>
              <a:rPr lang="pt-BR" b="1" i="0" dirty="0">
                <a:solidFill>
                  <a:schemeClr val="bg1"/>
                </a:solidFill>
                <a:effectLst/>
                <a:latin typeface="Google Sans"/>
              </a:rPr>
              <a:t>Escrevendo a consulta</a:t>
            </a:r>
            <a:endParaRPr lang="pt-BR" dirty="0">
              <a:solidFill>
                <a:schemeClr val="bg1"/>
              </a:solidFill>
            </a:endParaRPr>
          </a:p>
        </p:txBody>
      </p:sp>
      <p:pic>
        <p:nvPicPr>
          <p:cNvPr id="4" name="Imagem 3">
            <a:extLst>
              <a:ext uri="{FF2B5EF4-FFF2-40B4-BE49-F238E27FC236}">
                <a16:creationId xmlns:a16="http://schemas.microsoft.com/office/drawing/2014/main" id="{77A56B71-650A-64ED-B751-7FE04BA90403}"/>
              </a:ext>
            </a:extLst>
          </p:cNvPr>
          <p:cNvPicPr>
            <a:picLocks noChangeAspect="1"/>
          </p:cNvPicPr>
          <p:nvPr/>
        </p:nvPicPr>
        <p:blipFill>
          <a:blip r:embed="rId2"/>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3266919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9EF30C2-29AC-4A0D-BC0A-A679CF113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5036D823-4E8C-8D65-23E2-A5E2DF90BE92}"/>
              </a:ext>
            </a:extLst>
          </p:cNvPr>
          <p:cNvSpPr>
            <a:spLocks noGrp="1"/>
          </p:cNvSpPr>
          <p:nvPr>
            <p:ph type="title"/>
          </p:nvPr>
        </p:nvSpPr>
        <p:spPr>
          <a:xfrm>
            <a:off x="5093520" y="2744662"/>
            <a:ext cx="6589707" cy="2387600"/>
          </a:xfrm>
        </p:spPr>
        <p:txBody>
          <a:bodyPr vert="horz" lIns="91440" tIns="45720" rIns="91440" bIns="45720" rtlCol="0" anchor="b">
            <a:normAutofit/>
          </a:bodyPr>
          <a:lstStyle/>
          <a:p>
            <a:pPr algn="r"/>
            <a:r>
              <a:rPr lang="en-US" sz="5600" b="1" i="0" kern="1200">
                <a:solidFill>
                  <a:srgbClr val="FFFFFF"/>
                </a:solidFill>
                <a:effectLst/>
                <a:latin typeface="+mj-lt"/>
                <a:ea typeface="+mj-ea"/>
                <a:cs typeface="+mj-cs"/>
              </a:rPr>
              <a:t>Definindo o objetivo</a:t>
            </a:r>
            <a:br>
              <a:rPr lang="en-US" sz="5600" b="1" i="0" kern="1200">
                <a:solidFill>
                  <a:srgbClr val="FFFFFF"/>
                </a:solidFill>
                <a:effectLst/>
                <a:latin typeface="+mj-lt"/>
                <a:ea typeface="+mj-ea"/>
                <a:cs typeface="+mj-cs"/>
              </a:rPr>
            </a:br>
            <a:endParaRPr lang="en-US" sz="5600" kern="1200">
              <a:solidFill>
                <a:srgbClr val="FFFFFF"/>
              </a:solidFill>
              <a:latin typeface="+mj-lt"/>
              <a:ea typeface="+mj-ea"/>
              <a:cs typeface="+mj-cs"/>
            </a:endParaRPr>
          </a:p>
        </p:txBody>
      </p:sp>
      <p:cxnSp>
        <p:nvCxnSpPr>
          <p:cNvPr id="11" name="Straight Connector 10">
            <a:extLst>
              <a:ext uri="{FF2B5EF4-FFF2-40B4-BE49-F238E27FC236}">
                <a16:creationId xmlns:a16="http://schemas.microsoft.com/office/drawing/2014/main" id="{266A0658-1CC4-4B0D-AAB7-A702286AFB0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A04F1504-431A-4D86-9091-AE7E4B33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EA804283-B929-4503-802F-4585376E2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Oval 16">
            <a:extLst>
              <a:ext uri="{FF2B5EF4-FFF2-40B4-BE49-F238E27FC236}">
                <a16:creationId xmlns:a16="http://schemas.microsoft.com/office/drawing/2014/main" id="{AD3811F5-514E-49A4-B382-673ED228A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067AD921-1CEE-4C1B-9AA3-C66D908DD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1" name="Arc 20">
            <a:extLst>
              <a:ext uri="{FF2B5EF4-FFF2-40B4-BE49-F238E27FC236}">
                <a16:creationId xmlns:a16="http://schemas.microsoft.com/office/drawing/2014/main" id="{C36A08F5-3B56-47C5-A371-9187BE56E1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3" name="Imagem 2">
            <a:extLst>
              <a:ext uri="{FF2B5EF4-FFF2-40B4-BE49-F238E27FC236}">
                <a16:creationId xmlns:a16="http://schemas.microsoft.com/office/drawing/2014/main" id="{E6EF93FF-E619-F8DA-9B53-8EFDA3E87CD7}"/>
              </a:ext>
            </a:extLst>
          </p:cNvPr>
          <p:cNvPicPr>
            <a:picLocks noChangeAspect="1"/>
          </p:cNvPicPr>
          <p:nvPr/>
        </p:nvPicPr>
        <p:blipFill>
          <a:blip r:embed="rId2"/>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908579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DEA0130-6353-FCFA-CA62-5DC0B4039644}"/>
              </a:ext>
            </a:extLst>
          </p:cNvPr>
          <p:cNvSpPr>
            <a:spLocks noGrp="1"/>
          </p:cNvSpPr>
          <p:nvPr>
            <p:ph type="title"/>
          </p:nvPr>
        </p:nvSpPr>
        <p:spPr>
          <a:xfrm>
            <a:off x="1171074" y="1396686"/>
            <a:ext cx="3240506" cy="4064628"/>
          </a:xfrm>
        </p:spPr>
        <p:txBody>
          <a:bodyPr>
            <a:normAutofit/>
          </a:bodyPr>
          <a:lstStyle/>
          <a:p>
            <a:r>
              <a:rPr lang="pt-BR" dirty="0">
                <a:solidFill>
                  <a:srgbClr val="FFFFFF"/>
                </a:solidFill>
              </a:rPr>
              <a:t>Realizando consultas</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Espaço Reservado para Conteúdo 2">
            <a:extLst>
              <a:ext uri="{FF2B5EF4-FFF2-40B4-BE49-F238E27FC236}">
                <a16:creationId xmlns:a16="http://schemas.microsoft.com/office/drawing/2014/main" id="{3B1639CC-2598-DD6A-E590-B22EE2E03877}"/>
              </a:ext>
            </a:extLst>
          </p:cNvPr>
          <p:cNvSpPr>
            <a:spLocks noGrp="1"/>
          </p:cNvSpPr>
          <p:nvPr>
            <p:ph idx="1"/>
          </p:nvPr>
        </p:nvSpPr>
        <p:spPr>
          <a:xfrm>
            <a:off x="5370153" y="1526033"/>
            <a:ext cx="5536397" cy="3935281"/>
          </a:xfrm>
        </p:spPr>
        <p:txBody>
          <a:bodyPr>
            <a:normAutofit/>
          </a:bodyPr>
          <a:lstStyle/>
          <a:p>
            <a:r>
              <a:rPr lang="pt-BR" sz="2000" b="0" i="0" dirty="0">
                <a:solidFill>
                  <a:schemeClr val="bg1"/>
                </a:solidFill>
                <a:effectLst/>
                <a:latin typeface="Söhne"/>
              </a:rPr>
              <a:t>Esta aula tem por escopo elucidar o processo de realização de consultas em um banco de dados, valendo-se da Linguagem de Manipulação de Dados (DML) como ferramenta comunicativa com os registros armazenados. Em etapas anteriores, já falamos acerca das operações de inserção (INSERT), atualização (UPDATE) e exclusão (DELETE) de registros. Neste momento, iremos aprofundar nossa compreensão, entendendo melhor o universo da SQL para a execução de consultas em uma ou mais tabelas</a:t>
            </a:r>
          </a:p>
          <a:p>
            <a:r>
              <a:rPr lang="pt-BR" sz="2000" dirty="0">
                <a:latin typeface="Söhne"/>
              </a:rPr>
              <a:t>Para tal iremos utilizar os seguintes comandos: SELECT, FROM, WHERE</a:t>
            </a:r>
            <a:endParaRPr lang="pt-BR" sz="2000" dirty="0"/>
          </a:p>
        </p:txBody>
      </p:sp>
      <p:pic>
        <p:nvPicPr>
          <p:cNvPr id="4" name="Imagem 3">
            <a:extLst>
              <a:ext uri="{FF2B5EF4-FFF2-40B4-BE49-F238E27FC236}">
                <a16:creationId xmlns:a16="http://schemas.microsoft.com/office/drawing/2014/main" id="{14521E99-319F-E14B-BA06-46DA8C74EDA2}"/>
              </a:ext>
            </a:extLst>
          </p:cNvPr>
          <p:cNvPicPr>
            <a:picLocks noChangeAspect="1"/>
          </p:cNvPicPr>
          <p:nvPr/>
        </p:nvPicPr>
        <p:blipFill>
          <a:blip r:embed="rId2"/>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1671918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ço Reservado para Conteúdo 2">
            <a:extLst>
              <a:ext uri="{FF2B5EF4-FFF2-40B4-BE49-F238E27FC236}">
                <a16:creationId xmlns:a16="http://schemas.microsoft.com/office/drawing/2014/main" id="{62600218-6B45-9F59-3D87-DFDFDBAC4B40}"/>
              </a:ext>
            </a:extLst>
          </p:cNvPr>
          <p:cNvSpPr>
            <a:spLocks noGrp="1"/>
          </p:cNvSpPr>
          <p:nvPr>
            <p:ph idx="1"/>
          </p:nvPr>
        </p:nvSpPr>
        <p:spPr>
          <a:xfrm>
            <a:off x="4447308" y="591344"/>
            <a:ext cx="6906491" cy="5585619"/>
          </a:xfrm>
        </p:spPr>
        <p:txBody>
          <a:bodyPr anchor="ctr">
            <a:normAutofit/>
          </a:bodyPr>
          <a:lstStyle/>
          <a:p>
            <a:pPr marL="0" indent="0">
              <a:buNone/>
            </a:pPr>
            <a:r>
              <a:rPr lang="pt-BR" sz="2000" dirty="0">
                <a:solidFill>
                  <a:schemeClr val="bg1"/>
                </a:solidFill>
              </a:rPr>
              <a:t>Juntos, </a:t>
            </a:r>
            <a:r>
              <a:rPr lang="pt-BR" sz="2000" b="1" i="1" dirty="0">
                <a:solidFill>
                  <a:schemeClr val="bg1"/>
                </a:solidFill>
              </a:rPr>
              <a:t>SELECT</a:t>
            </a:r>
            <a:r>
              <a:rPr lang="pt-BR" sz="2000" dirty="0">
                <a:solidFill>
                  <a:schemeClr val="bg1"/>
                </a:solidFill>
              </a:rPr>
              <a:t>, </a:t>
            </a:r>
            <a:r>
              <a:rPr lang="pt-BR" sz="2000" b="1" dirty="0">
                <a:solidFill>
                  <a:schemeClr val="bg1"/>
                </a:solidFill>
              </a:rPr>
              <a:t>FROM</a:t>
            </a:r>
            <a:r>
              <a:rPr lang="pt-BR" sz="2000" dirty="0">
                <a:solidFill>
                  <a:schemeClr val="bg1"/>
                </a:solidFill>
              </a:rPr>
              <a:t> e </a:t>
            </a:r>
            <a:r>
              <a:rPr lang="pt-BR" sz="2000" b="1" i="1" dirty="0">
                <a:solidFill>
                  <a:schemeClr val="bg1"/>
                </a:solidFill>
              </a:rPr>
              <a:t>WHERE</a:t>
            </a:r>
            <a:r>
              <a:rPr lang="pt-BR" sz="2000" dirty="0">
                <a:solidFill>
                  <a:schemeClr val="bg1"/>
                </a:solidFill>
              </a:rPr>
              <a:t> são usados em conjunto para realizar consultas mais específicas e direcionadas aos dados em um banco de dados Oracle.</a:t>
            </a:r>
          </a:p>
          <a:p>
            <a:pPr marL="0" indent="0">
              <a:buNone/>
            </a:pPr>
            <a:endParaRPr lang="pt-BR" sz="2000" dirty="0">
              <a:solidFill>
                <a:schemeClr val="bg1"/>
              </a:solidFill>
            </a:endParaRPr>
          </a:p>
          <a:p>
            <a:pPr>
              <a:buFont typeface="Courier New" panose="02070309020205020404" pitchFamily="49" charset="0"/>
              <a:buChar char="o"/>
            </a:pPr>
            <a:r>
              <a:rPr lang="pt-BR" sz="2000" dirty="0">
                <a:solidFill>
                  <a:schemeClr val="bg1"/>
                </a:solidFill>
              </a:rPr>
              <a:t> </a:t>
            </a:r>
            <a:r>
              <a:rPr lang="pt-BR" sz="2000" b="1" dirty="0">
                <a:solidFill>
                  <a:schemeClr val="bg1"/>
                </a:solidFill>
              </a:rPr>
              <a:t>SELECT</a:t>
            </a:r>
            <a:r>
              <a:rPr lang="pt-BR" sz="2000" dirty="0">
                <a:solidFill>
                  <a:schemeClr val="bg1"/>
                </a:solidFill>
              </a:rPr>
              <a:t>: Esta parte da consulta especifica as colunas exatas que você deseja recuperar dos dados. Você pode selecionar todas as colunas usando * ou especificar colunas específicas pelo nome.</a:t>
            </a:r>
          </a:p>
          <a:p>
            <a:pPr>
              <a:buFont typeface="Courier New" panose="02070309020205020404" pitchFamily="49" charset="0"/>
              <a:buChar char="o"/>
            </a:pPr>
            <a:r>
              <a:rPr lang="pt-BR" sz="2000" dirty="0">
                <a:solidFill>
                  <a:schemeClr val="bg1"/>
                </a:solidFill>
              </a:rPr>
              <a:t> </a:t>
            </a:r>
            <a:r>
              <a:rPr lang="pt-BR" sz="2000" b="1" dirty="0">
                <a:solidFill>
                  <a:schemeClr val="bg1"/>
                </a:solidFill>
              </a:rPr>
              <a:t>FROM</a:t>
            </a:r>
            <a:r>
              <a:rPr lang="pt-BR" sz="2000" dirty="0">
                <a:solidFill>
                  <a:schemeClr val="bg1"/>
                </a:solidFill>
              </a:rPr>
              <a:t>: Aqui você especifica a tabela ou tabelas das quais deseja recuperar os dados. Se estiver selecionando dados de mais de uma tabela, você lista todas elas aqui.</a:t>
            </a:r>
          </a:p>
          <a:p>
            <a:pPr>
              <a:buFont typeface="Courier New" panose="02070309020205020404" pitchFamily="49" charset="0"/>
              <a:buChar char="o"/>
            </a:pPr>
            <a:r>
              <a:rPr lang="pt-BR" sz="2000" dirty="0">
                <a:solidFill>
                  <a:schemeClr val="bg1"/>
                </a:solidFill>
              </a:rPr>
              <a:t> </a:t>
            </a:r>
            <a:r>
              <a:rPr lang="pt-BR" sz="2000" b="1" dirty="0">
                <a:solidFill>
                  <a:schemeClr val="bg1"/>
                </a:solidFill>
              </a:rPr>
              <a:t>WHERE</a:t>
            </a:r>
            <a:r>
              <a:rPr lang="pt-BR" sz="2000" dirty="0">
                <a:solidFill>
                  <a:schemeClr val="bg1"/>
                </a:solidFill>
              </a:rPr>
              <a:t>: Esta cláusula é usada para filtrar as linhas retornadas pela consulta com base em uma condição específica. A condição é uma expressão lógica que deve ser verdadeira para as linhas a serem incluídas no resultado da consulta. </a:t>
            </a:r>
          </a:p>
        </p:txBody>
      </p:sp>
      <p:pic>
        <p:nvPicPr>
          <p:cNvPr id="7" name="Imagem 6">
            <a:extLst>
              <a:ext uri="{FF2B5EF4-FFF2-40B4-BE49-F238E27FC236}">
                <a16:creationId xmlns:a16="http://schemas.microsoft.com/office/drawing/2014/main" id="{1CF5DB8A-E393-54C1-5B7A-CF6342C11CAA}"/>
              </a:ext>
            </a:extLst>
          </p:cNvPr>
          <p:cNvPicPr>
            <a:picLocks noChangeAspect="1"/>
          </p:cNvPicPr>
          <p:nvPr/>
        </p:nvPicPr>
        <p:blipFill>
          <a:blip r:embed="rId2"/>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10238334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0A154CE-B4CC-EF10-7B84-0D37865644E0}"/>
              </a:ext>
            </a:extLst>
          </p:cNvPr>
          <p:cNvSpPr>
            <a:spLocks noGrp="1"/>
          </p:cNvSpPr>
          <p:nvPr>
            <p:ph type="title"/>
          </p:nvPr>
        </p:nvSpPr>
        <p:spPr>
          <a:xfrm>
            <a:off x="970908" y="1220919"/>
            <a:ext cx="5425781" cy="2387600"/>
          </a:xfrm>
        </p:spPr>
        <p:txBody>
          <a:bodyPr vert="horz" lIns="91440" tIns="45720" rIns="91440" bIns="45720" rtlCol="0" anchor="b">
            <a:normAutofit/>
          </a:bodyPr>
          <a:lstStyle/>
          <a:p>
            <a:r>
              <a:rPr lang="en-US" sz="5100" b="1" i="0" kern="1200" dirty="0" err="1">
                <a:solidFill>
                  <a:schemeClr val="bg1"/>
                </a:solidFill>
                <a:effectLst/>
                <a:latin typeface="+mj-lt"/>
                <a:ea typeface="+mj-ea"/>
                <a:cs typeface="+mj-cs"/>
              </a:rPr>
              <a:t>Pesquisar</a:t>
            </a:r>
            <a:r>
              <a:rPr lang="en-US" sz="5100" b="1" i="0" kern="1200" dirty="0">
                <a:solidFill>
                  <a:schemeClr val="bg1"/>
                </a:solidFill>
                <a:effectLst/>
                <a:latin typeface="+mj-lt"/>
                <a:ea typeface="+mj-ea"/>
                <a:cs typeface="+mj-cs"/>
              </a:rPr>
              <a:t> </a:t>
            </a:r>
            <a:r>
              <a:rPr lang="en-US" sz="5100" b="1" i="0" kern="1200" dirty="0" err="1">
                <a:solidFill>
                  <a:schemeClr val="bg1"/>
                </a:solidFill>
                <a:effectLst/>
                <a:latin typeface="+mj-lt"/>
                <a:ea typeface="+mj-ea"/>
                <a:cs typeface="+mj-cs"/>
              </a:rPr>
              <a:t>todas</a:t>
            </a:r>
            <a:r>
              <a:rPr lang="en-US" sz="5100" b="1" i="0" kern="1200" dirty="0">
                <a:solidFill>
                  <a:schemeClr val="bg1"/>
                </a:solidFill>
                <a:effectLst/>
                <a:latin typeface="+mj-lt"/>
                <a:ea typeface="+mj-ea"/>
                <a:cs typeface="+mj-cs"/>
              </a:rPr>
              <a:t> as </a:t>
            </a:r>
            <a:r>
              <a:rPr lang="en-US" sz="5100" b="1" i="0" kern="1200" dirty="0" err="1">
                <a:solidFill>
                  <a:schemeClr val="bg1"/>
                </a:solidFill>
                <a:effectLst/>
                <a:latin typeface="+mj-lt"/>
                <a:ea typeface="+mj-ea"/>
                <a:cs typeface="+mj-cs"/>
              </a:rPr>
              <a:t>linhas</a:t>
            </a:r>
            <a:r>
              <a:rPr lang="en-US" sz="5100" b="1" i="0" kern="1200" dirty="0">
                <a:solidFill>
                  <a:schemeClr val="bg1"/>
                </a:solidFill>
                <a:effectLst/>
                <a:latin typeface="+mj-lt"/>
                <a:ea typeface="+mj-ea"/>
                <a:cs typeface="+mj-cs"/>
              </a:rPr>
              <a:t> e </a:t>
            </a:r>
            <a:r>
              <a:rPr lang="en-US" sz="5100" b="1" i="0" kern="1200" dirty="0" err="1">
                <a:solidFill>
                  <a:schemeClr val="bg1"/>
                </a:solidFill>
                <a:effectLst/>
                <a:latin typeface="+mj-lt"/>
                <a:ea typeface="+mj-ea"/>
                <a:cs typeface="+mj-cs"/>
              </a:rPr>
              <a:t>colunas</a:t>
            </a:r>
            <a:br>
              <a:rPr lang="en-US" sz="5100" b="1" i="0" kern="1200" dirty="0">
                <a:solidFill>
                  <a:schemeClr val="bg1"/>
                </a:solidFill>
                <a:effectLst/>
                <a:latin typeface="+mj-lt"/>
                <a:ea typeface="+mj-ea"/>
                <a:cs typeface="+mj-cs"/>
              </a:rPr>
            </a:br>
            <a:endParaRPr lang="en-US" sz="5100" kern="1200" dirty="0">
              <a:solidFill>
                <a:schemeClr val="bg1"/>
              </a:solidFill>
              <a:latin typeface="+mj-lt"/>
              <a:ea typeface="+mj-ea"/>
              <a:cs typeface="+mj-cs"/>
            </a:endParaRPr>
          </a:p>
        </p:txBody>
      </p:sp>
      <p:sp>
        <p:nvSpPr>
          <p:cNvPr id="9" name="Freeform: Shape 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Oval 1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Block Arc 1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Freeform: Shape 14">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7" name="Straight Connector 1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1" name="Arc 20">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m 3">
            <a:extLst>
              <a:ext uri="{FF2B5EF4-FFF2-40B4-BE49-F238E27FC236}">
                <a16:creationId xmlns:a16="http://schemas.microsoft.com/office/drawing/2014/main" id="{1F02A5E6-349B-385A-6507-05380117B8CE}"/>
              </a:ext>
            </a:extLst>
          </p:cNvPr>
          <p:cNvPicPr>
            <a:picLocks noChangeAspect="1"/>
          </p:cNvPicPr>
          <p:nvPr/>
        </p:nvPicPr>
        <p:blipFill>
          <a:blip r:embed="rId2"/>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2468434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0A154CE-B4CC-EF10-7B84-0D37865644E0}"/>
              </a:ext>
            </a:extLst>
          </p:cNvPr>
          <p:cNvSpPr>
            <a:spLocks noGrp="1"/>
          </p:cNvSpPr>
          <p:nvPr>
            <p:ph type="title"/>
          </p:nvPr>
        </p:nvSpPr>
        <p:spPr>
          <a:xfrm>
            <a:off x="1171074" y="1396686"/>
            <a:ext cx="3240506" cy="4064628"/>
          </a:xfrm>
        </p:spPr>
        <p:txBody>
          <a:bodyPr>
            <a:normAutofit/>
          </a:bodyPr>
          <a:lstStyle/>
          <a:p>
            <a:r>
              <a:rPr lang="pt-BR">
                <a:solidFill>
                  <a:srgbClr val="FFFFFF"/>
                </a:solidFill>
              </a:rPr>
              <a:t>SELECT * FROM;</a:t>
            </a:r>
          </a:p>
        </p:txBody>
      </p:sp>
      <p:sp>
        <p:nvSpPr>
          <p:cNvPr id="30" name="Arc 29">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2" name="Oval 31">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Espaço Reservado para Conteúdo 2">
            <a:extLst>
              <a:ext uri="{FF2B5EF4-FFF2-40B4-BE49-F238E27FC236}">
                <a16:creationId xmlns:a16="http://schemas.microsoft.com/office/drawing/2014/main" id="{3725D282-F7F5-9BEA-5242-87A9B0D57091}"/>
              </a:ext>
            </a:extLst>
          </p:cNvPr>
          <p:cNvSpPr>
            <a:spLocks noGrp="1"/>
          </p:cNvSpPr>
          <p:nvPr>
            <p:ph idx="1"/>
          </p:nvPr>
        </p:nvSpPr>
        <p:spPr>
          <a:xfrm>
            <a:off x="5370153" y="1526033"/>
            <a:ext cx="5536397" cy="3935281"/>
          </a:xfrm>
        </p:spPr>
        <p:txBody>
          <a:bodyPr>
            <a:normAutofit/>
          </a:bodyPr>
          <a:lstStyle/>
          <a:p>
            <a:pPr marL="0" indent="0" algn="just">
              <a:buNone/>
            </a:pPr>
            <a:r>
              <a:rPr lang="pt-BR" sz="2000" dirty="0">
                <a:solidFill>
                  <a:schemeClr val="bg1"/>
                </a:solidFill>
              </a:rPr>
              <a:t>A execução de uma consulta que pesquisa todas as linhas e colunas em um banco de dados é um procedimento crucial na análise e manipulação de dados. Isso é realizado por meio de uma instrução SQL SELECT, que busca todos os registros de uma ou mais tabelas, junto com todas as suas colunas correspondentes. Essa operação fornece uma visão completa e detalhada dos dados armazenados, essencial para análises extensivas, relatórios e processos de tomada de decisão em sistemas de banco de dados</a:t>
            </a:r>
          </a:p>
        </p:txBody>
      </p:sp>
      <p:pic>
        <p:nvPicPr>
          <p:cNvPr id="5" name="Imagem 4">
            <a:extLst>
              <a:ext uri="{FF2B5EF4-FFF2-40B4-BE49-F238E27FC236}">
                <a16:creationId xmlns:a16="http://schemas.microsoft.com/office/drawing/2014/main" id="{AA71A869-EB5C-AAEA-0399-559B83F8AB36}"/>
              </a:ext>
            </a:extLst>
          </p:cNvPr>
          <p:cNvPicPr>
            <a:picLocks noChangeAspect="1"/>
          </p:cNvPicPr>
          <p:nvPr/>
        </p:nvPicPr>
        <p:blipFill>
          <a:blip r:embed="rId2"/>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4181791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8" name="Rectangle 11">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a:extLst>
              <a:ext uri="{FF2B5EF4-FFF2-40B4-BE49-F238E27FC236}">
                <a16:creationId xmlns:a16="http://schemas.microsoft.com/office/drawing/2014/main" id="{80A154CE-B4CC-EF10-7B84-0D37865644E0}"/>
              </a:ext>
            </a:extLst>
          </p:cNvPr>
          <p:cNvSpPr>
            <a:spLocks noGrp="1"/>
          </p:cNvSpPr>
          <p:nvPr>
            <p:ph type="title"/>
          </p:nvPr>
        </p:nvSpPr>
        <p:spPr>
          <a:xfrm>
            <a:off x="874815" y="798703"/>
            <a:ext cx="5221185" cy="3072015"/>
          </a:xfrm>
        </p:spPr>
        <p:txBody>
          <a:bodyPr vert="horz" lIns="91440" tIns="45720" rIns="91440" bIns="45720" rtlCol="0" anchor="b">
            <a:normAutofit/>
          </a:bodyPr>
          <a:lstStyle/>
          <a:p>
            <a:pPr algn="ctr"/>
            <a:r>
              <a:rPr lang="en-US" sz="6000" kern="1200" dirty="0">
                <a:solidFill>
                  <a:schemeClr val="bg1"/>
                </a:solidFill>
                <a:latin typeface="+mj-lt"/>
                <a:ea typeface="+mj-ea"/>
                <a:cs typeface="+mj-cs"/>
              </a:rPr>
              <a:t>EXEMPLO:</a:t>
            </a:r>
          </a:p>
        </p:txBody>
      </p:sp>
      <p:sp>
        <p:nvSpPr>
          <p:cNvPr id="29" name="Freeform: Shape 13">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Imagem 6">
            <a:extLst>
              <a:ext uri="{FF2B5EF4-FFF2-40B4-BE49-F238E27FC236}">
                <a16:creationId xmlns:a16="http://schemas.microsoft.com/office/drawing/2014/main" id="{C2B2D39F-7D33-3493-01DD-90D9F24666F8}"/>
              </a:ext>
            </a:extLst>
          </p:cNvPr>
          <p:cNvPicPr>
            <a:picLocks noChangeAspect="1"/>
          </p:cNvPicPr>
          <p:nvPr/>
        </p:nvPicPr>
        <p:blipFill>
          <a:blip r:embed="rId2"/>
          <a:stretch>
            <a:fillRect/>
          </a:stretch>
        </p:blipFill>
        <p:spPr>
          <a:xfrm>
            <a:off x="5665420" y="1389713"/>
            <a:ext cx="6203307" cy="3737491"/>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18" name="Freeform: Shape 17">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pic>
        <p:nvPicPr>
          <p:cNvPr id="10" name="Imagem 9">
            <a:extLst>
              <a:ext uri="{FF2B5EF4-FFF2-40B4-BE49-F238E27FC236}">
                <a16:creationId xmlns:a16="http://schemas.microsoft.com/office/drawing/2014/main" id="{750C8622-D227-6075-CACC-5358A5442391}"/>
              </a:ext>
            </a:extLst>
          </p:cNvPr>
          <p:cNvPicPr>
            <a:picLocks noChangeAspect="1"/>
          </p:cNvPicPr>
          <p:nvPr/>
        </p:nvPicPr>
        <p:blipFill>
          <a:blip r:embed="rId3"/>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2350836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0A154CE-B4CC-EF10-7B84-0D37865644E0}"/>
              </a:ext>
            </a:extLst>
          </p:cNvPr>
          <p:cNvSpPr>
            <a:spLocks noGrp="1"/>
          </p:cNvSpPr>
          <p:nvPr>
            <p:ph type="title"/>
          </p:nvPr>
        </p:nvSpPr>
        <p:spPr>
          <a:xfrm>
            <a:off x="686834" y="1153572"/>
            <a:ext cx="3200400" cy="4461163"/>
          </a:xfrm>
        </p:spPr>
        <p:txBody>
          <a:bodyPr vert="horz" lIns="91440" tIns="45720" rIns="91440" bIns="45720" rtlCol="0" anchor="ctr">
            <a:normAutofit/>
          </a:bodyPr>
          <a:lstStyle/>
          <a:p>
            <a:r>
              <a:rPr lang="en-US" b="1" i="0" kern="1200">
                <a:solidFill>
                  <a:srgbClr val="FFFFFF"/>
                </a:solidFill>
                <a:effectLst/>
                <a:latin typeface="+mj-lt"/>
                <a:ea typeface="+mj-ea"/>
                <a:cs typeface="+mj-cs"/>
              </a:rPr>
              <a:t>Pesquisar colunas específicas</a:t>
            </a:r>
            <a:endParaRPr lang="en-US" kern="1200">
              <a:solidFill>
                <a:srgbClr val="FFFFFF"/>
              </a:solidFill>
              <a:latin typeface="+mj-lt"/>
              <a:ea typeface="+mj-ea"/>
              <a:cs typeface="+mj-cs"/>
            </a:endParaRPr>
          </a:p>
        </p:txBody>
      </p:sp>
      <p:sp>
        <p:nvSpPr>
          <p:cNvPr id="14" name="Arc 13">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CaixaDeTexto 4">
            <a:extLst>
              <a:ext uri="{FF2B5EF4-FFF2-40B4-BE49-F238E27FC236}">
                <a16:creationId xmlns:a16="http://schemas.microsoft.com/office/drawing/2014/main" id="{7F410F58-0EEB-37AE-2BD4-FDBD3B286C06}"/>
              </a:ext>
            </a:extLst>
          </p:cNvPr>
          <p:cNvSpPr txBox="1"/>
          <p:nvPr/>
        </p:nvSpPr>
        <p:spPr>
          <a:xfrm>
            <a:off x="4447308" y="591344"/>
            <a:ext cx="6906491" cy="5585619"/>
          </a:xfrm>
          <a:prstGeom prst="rect">
            <a:avLst/>
          </a:prstGeom>
        </p:spPr>
        <p:txBody>
          <a:bodyPr vert="horz" lIns="91440" tIns="45720" rIns="91440" bIns="45720" rtlCol="0" anchor="ctr">
            <a:normAutofit/>
          </a:bodyPr>
          <a:lstStyle/>
          <a:p>
            <a:pPr algn="just">
              <a:lnSpc>
                <a:spcPct val="90000"/>
              </a:lnSpc>
              <a:spcAft>
                <a:spcPts val="600"/>
              </a:spcAft>
            </a:pPr>
            <a:r>
              <a:rPr lang="en-US" dirty="0">
                <a:solidFill>
                  <a:schemeClr val="bg1"/>
                </a:solidFill>
              </a:rPr>
              <a:t>A </a:t>
            </a:r>
            <a:r>
              <a:rPr lang="en-US" dirty="0" err="1">
                <a:solidFill>
                  <a:schemeClr val="bg1"/>
                </a:solidFill>
              </a:rPr>
              <a:t>realização</a:t>
            </a:r>
            <a:r>
              <a:rPr lang="en-US" dirty="0">
                <a:solidFill>
                  <a:schemeClr val="bg1"/>
                </a:solidFill>
              </a:rPr>
              <a:t> de </a:t>
            </a:r>
            <a:r>
              <a:rPr lang="en-US" dirty="0" err="1">
                <a:solidFill>
                  <a:schemeClr val="bg1"/>
                </a:solidFill>
              </a:rPr>
              <a:t>uma</a:t>
            </a:r>
            <a:r>
              <a:rPr lang="en-US" dirty="0">
                <a:solidFill>
                  <a:schemeClr val="bg1"/>
                </a:solidFill>
              </a:rPr>
              <a:t> consulta que </a:t>
            </a:r>
            <a:r>
              <a:rPr lang="en-US" dirty="0" err="1">
                <a:solidFill>
                  <a:schemeClr val="bg1"/>
                </a:solidFill>
              </a:rPr>
              <a:t>pesquisa</a:t>
            </a:r>
            <a:r>
              <a:rPr lang="en-US" dirty="0">
                <a:solidFill>
                  <a:schemeClr val="bg1"/>
                </a:solidFill>
              </a:rPr>
              <a:t> </a:t>
            </a:r>
            <a:r>
              <a:rPr lang="en-US" dirty="0" err="1">
                <a:solidFill>
                  <a:schemeClr val="bg1"/>
                </a:solidFill>
              </a:rPr>
              <a:t>colunas</a:t>
            </a:r>
            <a:r>
              <a:rPr lang="en-US" dirty="0">
                <a:solidFill>
                  <a:schemeClr val="bg1"/>
                </a:solidFill>
              </a:rPr>
              <a:t> </a:t>
            </a:r>
            <a:r>
              <a:rPr lang="en-US" dirty="0" err="1">
                <a:solidFill>
                  <a:schemeClr val="bg1"/>
                </a:solidFill>
              </a:rPr>
              <a:t>específicas</a:t>
            </a:r>
            <a:r>
              <a:rPr lang="en-US" dirty="0">
                <a:solidFill>
                  <a:schemeClr val="bg1"/>
                </a:solidFill>
              </a:rPr>
              <a:t> </a:t>
            </a:r>
            <a:r>
              <a:rPr lang="en-US" dirty="0" err="1">
                <a:solidFill>
                  <a:schemeClr val="bg1"/>
                </a:solidFill>
              </a:rPr>
              <a:t>em</a:t>
            </a:r>
            <a:r>
              <a:rPr lang="en-US" dirty="0">
                <a:solidFill>
                  <a:schemeClr val="bg1"/>
                </a:solidFill>
              </a:rPr>
              <a:t> um banco de dados </a:t>
            </a:r>
            <a:r>
              <a:rPr lang="en-US" dirty="0" err="1">
                <a:solidFill>
                  <a:schemeClr val="bg1"/>
                </a:solidFill>
              </a:rPr>
              <a:t>envolve</a:t>
            </a:r>
            <a:r>
              <a:rPr lang="en-US" dirty="0">
                <a:solidFill>
                  <a:schemeClr val="bg1"/>
                </a:solidFill>
              </a:rPr>
              <a:t> a </a:t>
            </a:r>
            <a:r>
              <a:rPr lang="en-US" dirty="0" err="1">
                <a:solidFill>
                  <a:schemeClr val="bg1"/>
                </a:solidFill>
              </a:rPr>
              <a:t>execução</a:t>
            </a:r>
            <a:r>
              <a:rPr lang="en-US" dirty="0">
                <a:solidFill>
                  <a:schemeClr val="bg1"/>
                </a:solidFill>
              </a:rPr>
              <a:t> de </a:t>
            </a:r>
            <a:r>
              <a:rPr lang="en-US" dirty="0" err="1">
                <a:solidFill>
                  <a:schemeClr val="bg1"/>
                </a:solidFill>
              </a:rPr>
              <a:t>uma</a:t>
            </a:r>
            <a:r>
              <a:rPr lang="en-US" dirty="0">
                <a:solidFill>
                  <a:schemeClr val="bg1"/>
                </a:solidFill>
              </a:rPr>
              <a:t> </a:t>
            </a:r>
            <a:r>
              <a:rPr lang="en-US" dirty="0" err="1">
                <a:solidFill>
                  <a:schemeClr val="bg1"/>
                </a:solidFill>
              </a:rPr>
              <a:t>instrução</a:t>
            </a:r>
            <a:r>
              <a:rPr lang="en-US" dirty="0">
                <a:solidFill>
                  <a:schemeClr val="bg1"/>
                </a:solidFill>
              </a:rPr>
              <a:t> SQL SELECT, </a:t>
            </a:r>
            <a:r>
              <a:rPr lang="en-US" dirty="0" err="1">
                <a:solidFill>
                  <a:schemeClr val="bg1"/>
                </a:solidFill>
              </a:rPr>
              <a:t>na</a:t>
            </a:r>
            <a:r>
              <a:rPr lang="en-US" dirty="0">
                <a:solidFill>
                  <a:schemeClr val="bg1"/>
                </a:solidFill>
              </a:rPr>
              <a:t> qual </a:t>
            </a:r>
            <a:r>
              <a:rPr lang="en-US" dirty="0" err="1">
                <a:solidFill>
                  <a:schemeClr val="bg1"/>
                </a:solidFill>
              </a:rPr>
              <a:t>são</a:t>
            </a:r>
            <a:r>
              <a:rPr lang="en-US" dirty="0">
                <a:solidFill>
                  <a:schemeClr val="bg1"/>
                </a:solidFill>
              </a:rPr>
              <a:t> </a:t>
            </a:r>
            <a:r>
              <a:rPr lang="en-US" dirty="0" err="1">
                <a:solidFill>
                  <a:schemeClr val="bg1"/>
                </a:solidFill>
              </a:rPr>
              <a:t>especificadas</a:t>
            </a:r>
            <a:r>
              <a:rPr lang="en-US" dirty="0">
                <a:solidFill>
                  <a:schemeClr val="bg1"/>
                </a:solidFill>
              </a:rPr>
              <a:t> as </a:t>
            </a:r>
            <a:r>
              <a:rPr lang="en-US" dirty="0" err="1">
                <a:solidFill>
                  <a:schemeClr val="bg1"/>
                </a:solidFill>
              </a:rPr>
              <a:t>colunas</a:t>
            </a:r>
            <a:r>
              <a:rPr lang="en-US" dirty="0">
                <a:solidFill>
                  <a:schemeClr val="bg1"/>
                </a:solidFill>
              </a:rPr>
              <a:t> </a:t>
            </a:r>
            <a:r>
              <a:rPr lang="en-US" dirty="0" err="1">
                <a:solidFill>
                  <a:schemeClr val="bg1"/>
                </a:solidFill>
              </a:rPr>
              <a:t>desejadas</a:t>
            </a:r>
            <a:r>
              <a:rPr lang="en-US" dirty="0">
                <a:solidFill>
                  <a:schemeClr val="bg1"/>
                </a:solidFill>
              </a:rPr>
              <a:t> a </a:t>
            </a:r>
            <a:r>
              <a:rPr lang="en-US" dirty="0" err="1">
                <a:solidFill>
                  <a:schemeClr val="bg1"/>
                </a:solidFill>
              </a:rPr>
              <a:t>serem</a:t>
            </a:r>
            <a:r>
              <a:rPr lang="en-US" dirty="0">
                <a:solidFill>
                  <a:schemeClr val="bg1"/>
                </a:solidFill>
              </a:rPr>
              <a:t> </a:t>
            </a:r>
            <a:r>
              <a:rPr lang="en-US" dirty="0" err="1">
                <a:solidFill>
                  <a:schemeClr val="bg1"/>
                </a:solidFill>
              </a:rPr>
              <a:t>recuperadas</a:t>
            </a:r>
            <a:r>
              <a:rPr lang="en-US" dirty="0">
                <a:solidFill>
                  <a:schemeClr val="bg1"/>
                </a:solidFill>
              </a:rPr>
              <a:t>. </a:t>
            </a:r>
            <a:r>
              <a:rPr lang="en-US" dirty="0" err="1">
                <a:solidFill>
                  <a:schemeClr val="bg1"/>
                </a:solidFill>
              </a:rPr>
              <a:t>Isso</a:t>
            </a:r>
            <a:r>
              <a:rPr lang="en-US" dirty="0">
                <a:solidFill>
                  <a:schemeClr val="bg1"/>
                </a:solidFill>
              </a:rPr>
              <a:t> </a:t>
            </a:r>
            <a:r>
              <a:rPr lang="en-US" dirty="0" err="1">
                <a:solidFill>
                  <a:schemeClr val="bg1"/>
                </a:solidFill>
              </a:rPr>
              <a:t>permite</a:t>
            </a:r>
            <a:r>
              <a:rPr lang="en-US" dirty="0">
                <a:solidFill>
                  <a:schemeClr val="bg1"/>
                </a:solidFill>
              </a:rPr>
              <a:t> a </a:t>
            </a:r>
            <a:r>
              <a:rPr lang="en-US" dirty="0" err="1">
                <a:solidFill>
                  <a:schemeClr val="bg1"/>
                </a:solidFill>
              </a:rPr>
              <a:t>extração</a:t>
            </a:r>
            <a:r>
              <a:rPr lang="en-US" dirty="0">
                <a:solidFill>
                  <a:schemeClr val="bg1"/>
                </a:solidFill>
              </a:rPr>
              <a:t> </a:t>
            </a:r>
            <a:r>
              <a:rPr lang="en-US" dirty="0" err="1">
                <a:solidFill>
                  <a:schemeClr val="bg1"/>
                </a:solidFill>
              </a:rPr>
              <a:t>seletiva</a:t>
            </a:r>
            <a:r>
              <a:rPr lang="en-US" dirty="0">
                <a:solidFill>
                  <a:schemeClr val="bg1"/>
                </a:solidFill>
              </a:rPr>
              <a:t> de dados de </a:t>
            </a:r>
            <a:r>
              <a:rPr lang="en-US" dirty="0" err="1">
                <a:solidFill>
                  <a:schemeClr val="bg1"/>
                </a:solidFill>
              </a:rPr>
              <a:t>uma</a:t>
            </a:r>
            <a:r>
              <a:rPr lang="en-US" dirty="0">
                <a:solidFill>
                  <a:schemeClr val="bg1"/>
                </a:solidFill>
              </a:rPr>
              <a:t> </a:t>
            </a:r>
            <a:r>
              <a:rPr lang="en-US" dirty="0" err="1">
                <a:solidFill>
                  <a:schemeClr val="bg1"/>
                </a:solidFill>
              </a:rPr>
              <a:t>ou</a:t>
            </a:r>
            <a:r>
              <a:rPr lang="en-US" dirty="0">
                <a:solidFill>
                  <a:schemeClr val="bg1"/>
                </a:solidFill>
              </a:rPr>
              <a:t> </a:t>
            </a:r>
            <a:r>
              <a:rPr lang="en-US" dirty="0" err="1">
                <a:solidFill>
                  <a:schemeClr val="bg1"/>
                </a:solidFill>
              </a:rPr>
              <a:t>mais</a:t>
            </a:r>
            <a:r>
              <a:rPr lang="en-US" dirty="0">
                <a:solidFill>
                  <a:schemeClr val="bg1"/>
                </a:solidFill>
              </a:rPr>
              <a:t> </a:t>
            </a:r>
            <a:r>
              <a:rPr lang="en-US" dirty="0" err="1">
                <a:solidFill>
                  <a:schemeClr val="bg1"/>
                </a:solidFill>
              </a:rPr>
              <a:t>tabelas</a:t>
            </a:r>
            <a:r>
              <a:rPr lang="en-US" dirty="0">
                <a:solidFill>
                  <a:schemeClr val="bg1"/>
                </a:solidFill>
              </a:rPr>
              <a:t>, </a:t>
            </a:r>
            <a:r>
              <a:rPr lang="en-US" dirty="0" err="1">
                <a:solidFill>
                  <a:schemeClr val="bg1"/>
                </a:solidFill>
              </a:rPr>
              <a:t>proporcionando</a:t>
            </a:r>
            <a:r>
              <a:rPr lang="en-US" dirty="0">
                <a:solidFill>
                  <a:schemeClr val="bg1"/>
                </a:solidFill>
              </a:rPr>
              <a:t> </a:t>
            </a:r>
            <a:r>
              <a:rPr lang="en-US" dirty="0" err="1">
                <a:solidFill>
                  <a:schemeClr val="bg1"/>
                </a:solidFill>
              </a:rPr>
              <a:t>uma</a:t>
            </a:r>
            <a:r>
              <a:rPr lang="en-US" dirty="0">
                <a:solidFill>
                  <a:schemeClr val="bg1"/>
                </a:solidFill>
              </a:rPr>
              <a:t> </a:t>
            </a:r>
            <a:r>
              <a:rPr lang="en-US" dirty="0" err="1">
                <a:solidFill>
                  <a:schemeClr val="bg1"/>
                </a:solidFill>
              </a:rPr>
              <a:t>visão</a:t>
            </a:r>
            <a:r>
              <a:rPr lang="en-US" dirty="0">
                <a:solidFill>
                  <a:schemeClr val="bg1"/>
                </a:solidFill>
              </a:rPr>
              <a:t> </a:t>
            </a:r>
            <a:r>
              <a:rPr lang="en-US" dirty="0" err="1">
                <a:solidFill>
                  <a:schemeClr val="bg1"/>
                </a:solidFill>
              </a:rPr>
              <a:t>mais</a:t>
            </a:r>
            <a:r>
              <a:rPr lang="en-US" dirty="0">
                <a:solidFill>
                  <a:schemeClr val="bg1"/>
                </a:solidFill>
              </a:rPr>
              <a:t> </a:t>
            </a:r>
            <a:r>
              <a:rPr lang="en-US" dirty="0" err="1">
                <a:solidFill>
                  <a:schemeClr val="bg1"/>
                </a:solidFill>
              </a:rPr>
              <a:t>direcionada</a:t>
            </a:r>
            <a:r>
              <a:rPr lang="en-US" dirty="0">
                <a:solidFill>
                  <a:schemeClr val="bg1"/>
                </a:solidFill>
              </a:rPr>
              <a:t> e </a:t>
            </a:r>
            <a:r>
              <a:rPr lang="en-US" dirty="0" err="1">
                <a:solidFill>
                  <a:schemeClr val="bg1"/>
                </a:solidFill>
              </a:rPr>
              <a:t>objetiva</a:t>
            </a:r>
            <a:r>
              <a:rPr lang="en-US" dirty="0">
                <a:solidFill>
                  <a:schemeClr val="bg1"/>
                </a:solidFill>
              </a:rPr>
              <a:t> das </a:t>
            </a:r>
            <a:r>
              <a:rPr lang="en-US" dirty="0" err="1">
                <a:solidFill>
                  <a:schemeClr val="bg1"/>
                </a:solidFill>
              </a:rPr>
              <a:t>informações</a:t>
            </a:r>
            <a:r>
              <a:rPr lang="en-US" dirty="0">
                <a:solidFill>
                  <a:schemeClr val="bg1"/>
                </a:solidFill>
              </a:rPr>
              <a:t> </a:t>
            </a:r>
            <a:r>
              <a:rPr lang="en-US" dirty="0" err="1">
                <a:solidFill>
                  <a:schemeClr val="bg1"/>
                </a:solidFill>
              </a:rPr>
              <a:t>armazenadas</a:t>
            </a:r>
            <a:r>
              <a:rPr lang="en-US" dirty="0">
                <a:solidFill>
                  <a:schemeClr val="bg1"/>
                </a:solidFill>
              </a:rPr>
              <a:t>. Essa </a:t>
            </a:r>
            <a:r>
              <a:rPr lang="en-US" dirty="0" err="1">
                <a:solidFill>
                  <a:schemeClr val="bg1"/>
                </a:solidFill>
              </a:rPr>
              <a:t>abordagem</a:t>
            </a:r>
            <a:r>
              <a:rPr lang="en-US" dirty="0">
                <a:solidFill>
                  <a:schemeClr val="bg1"/>
                </a:solidFill>
              </a:rPr>
              <a:t> é fundamental para </a:t>
            </a:r>
            <a:r>
              <a:rPr lang="en-US" dirty="0" err="1">
                <a:solidFill>
                  <a:schemeClr val="bg1"/>
                </a:solidFill>
              </a:rPr>
              <a:t>otimizar</a:t>
            </a:r>
            <a:r>
              <a:rPr lang="en-US" dirty="0">
                <a:solidFill>
                  <a:schemeClr val="bg1"/>
                </a:solidFill>
              </a:rPr>
              <a:t> a </a:t>
            </a:r>
            <a:r>
              <a:rPr lang="en-US" dirty="0" err="1">
                <a:solidFill>
                  <a:schemeClr val="bg1"/>
                </a:solidFill>
              </a:rPr>
              <a:t>eficiência</a:t>
            </a:r>
            <a:r>
              <a:rPr lang="en-US" dirty="0">
                <a:solidFill>
                  <a:schemeClr val="bg1"/>
                </a:solidFill>
              </a:rPr>
              <a:t> </a:t>
            </a:r>
            <a:r>
              <a:rPr lang="en-US" dirty="0" err="1">
                <a:solidFill>
                  <a:schemeClr val="bg1"/>
                </a:solidFill>
              </a:rPr>
              <a:t>na</a:t>
            </a:r>
            <a:r>
              <a:rPr lang="en-US" dirty="0">
                <a:solidFill>
                  <a:schemeClr val="bg1"/>
                </a:solidFill>
              </a:rPr>
              <a:t> </a:t>
            </a:r>
            <a:r>
              <a:rPr lang="en-US" dirty="0" err="1">
                <a:solidFill>
                  <a:schemeClr val="bg1"/>
                </a:solidFill>
              </a:rPr>
              <a:t>manipulação</a:t>
            </a:r>
            <a:r>
              <a:rPr lang="en-US" dirty="0">
                <a:solidFill>
                  <a:schemeClr val="bg1"/>
                </a:solidFill>
              </a:rPr>
              <a:t> de dados, </a:t>
            </a:r>
            <a:r>
              <a:rPr lang="en-US" dirty="0" err="1">
                <a:solidFill>
                  <a:schemeClr val="bg1"/>
                </a:solidFill>
              </a:rPr>
              <a:t>reduzindo</a:t>
            </a:r>
            <a:r>
              <a:rPr lang="en-US" dirty="0">
                <a:solidFill>
                  <a:schemeClr val="bg1"/>
                </a:solidFill>
              </a:rPr>
              <a:t> a carga de </a:t>
            </a:r>
            <a:r>
              <a:rPr lang="en-US" dirty="0" err="1">
                <a:solidFill>
                  <a:schemeClr val="bg1"/>
                </a:solidFill>
              </a:rPr>
              <a:t>processamento</a:t>
            </a:r>
            <a:r>
              <a:rPr lang="en-US" dirty="0">
                <a:solidFill>
                  <a:schemeClr val="bg1"/>
                </a:solidFill>
              </a:rPr>
              <a:t> e </a:t>
            </a:r>
            <a:r>
              <a:rPr lang="en-US" dirty="0" err="1">
                <a:solidFill>
                  <a:schemeClr val="bg1"/>
                </a:solidFill>
              </a:rPr>
              <a:t>simplificando</a:t>
            </a:r>
            <a:r>
              <a:rPr lang="en-US" dirty="0">
                <a:solidFill>
                  <a:schemeClr val="bg1"/>
                </a:solidFill>
              </a:rPr>
              <a:t> a </a:t>
            </a:r>
            <a:r>
              <a:rPr lang="en-US" dirty="0" err="1">
                <a:solidFill>
                  <a:schemeClr val="bg1"/>
                </a:solidFill>
              </a:rPr>
              <a:t>análise</a:t>
            </a:r>
            <a:r>
              <a:rPr lang="en-US" dirty="0">
                <a:solidFill>
                  <a:schemeClr val="bg1"/>
                </a:solidFill>
              </a:rPr>
              <a:t> de </a:t>
            </a:r>
            <a:r>
              <a:rPr lang="en-US" dirty="0" err="1">
                <a:solidFill>
                  <a:schemeClr val="bg1"/>
                </a:solidFill>
              </a:rPr>
              <a:t>informações</a:t>
            </a:r>
            <a:r>
              <a:rPr lang="en-US" dirty="0">
                <a:solidFill>
                  <a:schemeClr val="bg1"/>
                </a:solidFill>
              </a:rPr>
              <a:t> </a:t>
            </a:r>
            <a:r>
              <a:rPr lang="en-US" dirty="0" err="1">
                <a:solidFill>
                  <a:schemeClr val="bg1"/>
                </a:solidFill>
              </a:rPr>
              <a:t>relevantes</a:t>
            </a:r>
            <a:r>
              <a:rPr lang="en-US" dirty="0">
                <a:solidFill>
                  <a:schemeClr val="bg1"/>
                </a:solidFill>
              </a:rPr>
              <a:t> para </a:t>
            </a:r>
            <a:r>
              <a:rPr lang="en-US" dirty="0" err="1">
                <a:solidFill>
                  <a:schemeClr val="bg1"/>
                </a:solidFill>
              </a:rPr>
              <a:t>determinadas</a:t>
            </a:r>
            <a:r>
              <a:rPr lang="en-US" dirty="0">
                <a:solidFill>
                  <a:schemeClr val="bg1"/>
                </a:solidFill>
              </a:rPr>
              <a:t> </a:t>
            </a:r>
            <a:r>
              <a:rPr lang="en-US" dirty="0" err="1">
                <a:solidFill>
                  <a:schemeClr val="bg1"/>
                </a:solidFill>
              </a:rPr>
              <a:t>tarefas</a:t>
            </a:r>
            <a:r>
              <a:rPr lang="en-US" dirty="0">
                <a:solidFill>
                  <a:schemeClr val="bg1"/>
                </a:solidFill>
              </a:rPr>
              <a:t> </a:t>
            </a:r>
            <a:r>
              <a:rPr lang="en-US" dirty="0" err="1">
                <a:solidFill>
                  <a:schemeClr val="bg1"/>
                </a:solidFill>
              </a:rPr>
              <a:t>ou</a:t>
            </a:r>
            <a:r>
              <a:rPr lang="en-US" dirty="0">
                <a:solidFill>
                  <a:schemeClr val="bg1"/>
                </a:solidFill>
              </a:rPr>
              <a:t> </a:t>
            </a:r>
            <a:r>
              <a:rPr lang="en-US" dirty="0" err="1">
                <a:solidFill>
                  <a:schemeClr val="bg1"/>
                </a:solidFill>
              </a:rPr>
              <a:t>operações</a:t>
            </a:r>
            <a:r>
              <a:rPr lang="en-US" dirty="0">
                <a:solidFill>
                  <a:schemeClr val="bg1"/>
                </a:solidFill>
              </a:rPr>
              <a:t>.</a:t>
            </a:r>
          </a:p>
        </p:txBody>
      </p:sp>
      <p:pic>
        <p:nvPicPr>
          <p:cNvPr id="6" name="Imagem 5">
            <a:extLst>
              <a:ext uri="{FF2B5EF4-FFF2-40B4-BE49-F238E27FC236}">
                <a16:creationId xmlns:a16="http://schemas.microsoft.com/office/drawing/2014/main" id="{49D5E858-3364-5623-5999-B87A770DA404}"/>
              </a:ext>
            </a:extLst>
          </p:cNvPr>
          <p:cNvPicPr>
            <a:picLocks noChangeAspect="1"/>
          </p:cNvPicPr>
          <p:nvPr/>
        </p:nvPicPr>
        <p:blipFill>
          <a:blip r:embed="rId2"/>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2571117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a:extLst>
              <a:ext uri="{FF2B5EF4-FFF2-40B4-BE49-F238E27FC236}">
                <a16:creationId xmlns:a16="http://schemas.microsoft.com/office/drawing/2014/main" id="{80A154CE-B4CC-EF10-7B84-0D37865644E0}"/>
              </a:ext>
            </a:extLst>
          </p:cNvPr>
          <p:cNvSpPr>
            <a:spLocks noGrp="1"/>
          </p:cNvSpPr>
          <p:nvPr>
            <p:ph type="title"/>
          </p:nvPr>
        </p:nvSpPr>
        <p:spPr>
          <a:xfrm>
            <a:off x="874815" y="798703"/>
            <a:ext cx="5221185" cy="3072015"/>
          </a:xfrm>
        </p:spPr>
        <p:txBody>
          <a:bodyPr vert="horz" lIns="91440" tIns="45720" rIns="91440" bIns="45720" rtlCol="0" anchor="b">
            <a:normAutofit/>
          </a:bodyPr>
          <a:lstStyle/>
          <a:p>
            <a:pPr algn="ctr"/>
            <a:r>
              <a:rPr lang="en-US" sz="6000" kern="1200" dirty="0">
                <a:solidFill>
                  <a:srgbClr val="E97132"/>
                </a:solidFill>
                <a:latin typeface="+mj-lt"/>
                <a:ea typeface="+mj-ea"/>
                <a:cs typeface="+mj-cs"/>
              </a:rPr>
              <a:t>EXEMPLO</a:t>
            </a:r>
          </a:p>
        </p:txBody>
      </p:sp>
      <p:sp>
        <p:nvSpPr>
          <p:cNvPr id="21" name="Freeform: Shape 11">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23" name="Freeform: Shape 13">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Imagem 4">
            <a:extLst>
              <a:ext uri="{FF2B5EF4-FFF2-40B4-BE49-F238E27FC236}">
                <a16:creationId xmlns:a16="http://schemas.microsoft.com/office/drawing/2014/main" id="{2EA13A79-091E-E4BE-3A09-CA02ABCD4732}"/>
              </a:ext>
            </a:extLst>
          </p:cNvPr>
          <p:cNvPicPr>
            <a:picLocks noChangeAspect="1"/>
          </p:cNvPicPr>
          <p:nvPr/>
        </p:nvPicPr>
        <p:blipFill>
          <a:blip r:embed="rId2"/>
          <a:stretch>
            <a:fillRect/>
          </a:stretch>
        </p:blipFill>
        <p:spPr>
          <a:xfrm>
            <a:off x="6382327" y="1005472"/>
            <a:ext cx="5449455" cy="4836663"/>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24" name="Freeform: Shape 15">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pic>
        <p:nvPicPr>
          <p:cNvPr id="6" name="Imagem 5">
            <a:extLst>
              <a:ext uri="{FF2B5EF4-FFF2-40B4-BE49-F238E27FC236}">
                <a16:creationId xmlns:a16="http://schemas.microsoft.com/office/drawing/2014/main" id="{B54A95C4-2229-042A-5CC8-9380E959C7DA}"/>
              </a:ext>
            </a:extLst>
          </p:cNvPr>
          <p:cNvPicPr>
            <a:picLocks noChangeAspect="1"/>
          </p:cNvPicPr>
          <p:nvPr/>
        </p:nvPicPr>
        <p:blipFill>
          <a:blip r:embed="rId3"/>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3520768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0A154CE-B4CC-EF10-7B84-0D37865644E0}"/>
              </a:ext>
            </a:extLst>
          </p:cNvPr>
          <p:cNvSpPr>
            <a:spLocks noGrp="1"/>
          </p:cNvSpPr>
          <p:nvPr>
            <p:ph type="title"/>
          </p:nvPr>
        </p:nvSpPr>
        <p:spPr>
          <a:xfrm>
            <a:off x="686834" y="1153572"/>
            <a:ext cx="3200400" cy="4461163"/>
          </a:xfrm>
        </p:spPr>
        <p:txBody>
          <a:bodyPr>
            <a:normAutofit/>
          </a:bodyPr>
          <a:lstStyle/>
          <a:p>
            <a:r>
              <a:rPr lang="pt-BR" b="1" i="0" dirty="0">
                <a:solidFill>
                  <a:srgbClr val="FFFFFF"/>
                </a:solidFill>
                <a:effectLst/>
                <a:latin typeface="Google Sans"/>
              </a:rPr>
              <a:t>Pesquisar Linhas específicas</a:t>
            </a:r>
            <a:endParaRPr lang="pt-BR"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ço Reservado para Conteúdo 2">
            <a:extLst>
              <a:ext uri="{FF2B5EF4-FFF2-40B4-BE49-F238E27FC236}">
                <a16:creationId xmlns:a16="http://schemas.microsoft.com/office/drawing/2014/main" id="{3725D282-F7F5-9BEA-5242-87A9B0D57091}"/>
              </a:ext>
            </a:extLst>
          </p:cNvPr>
          <p:cNvSpPr>
            <a:spLocks noGrp="1"/>
          </p:cNvSpPr>
          <p:nvPr>
            <p:ph idx="1"/>
          </p:nvPr>
        </p:nvSpPr>
        <p:spPr>
          <a:xfrm>
            <a:off x="4447308" y="591344"/>
            <a:ext cx="6906491" cy="5585619"/>
          </a:xfrm>
        </p:spPr>
        <p:txBody>
          <a:bodyPr anchor="ctr">
            <a:normAutofit/>
          </a:bodyPr>
          <a:lstStyle/>
          <a:p>
            <a:pPr marL="0" indent="0">
              <a:buNone/>
            </a:pPr>
            <a:r>
              <a:rPr lang="pt-BR" dirty="0">
                <a:solidFill>
                  <a:schemeClr val="bg1"/>
                </a:solidFill>
              </a:rPr>
              <a:t>Para filtrar   linhas específicas é necessário utilizar a cláusula WHERE em uma consulta SQL.</a:t>
            </a:r>
          </a:p>
          <a:p>
            <a:pPr marL="0" indent="0">
              <a:buNone/>
            </a:pPr>
            <a:r>
              <a:rPr lang="pt-BR" b="0" i="0" dirty="0">
                <a:solidFill>
                  <a:schemeClr val="bg1"/>
                </a:solidFill>
                <a:effectLst/>
                <a:latin typeface="Söhne"/>
              </a:rPr>
              <a:t>Essa expressão pode envolver operadores de comparação, lógicos e outras funções para avaliar as condições desejadas</a:t>
            </a:r>
            <a:endParaRPr lang="pt-BR" dirty="0">
              <a:solidFill>
                <a:schemeClr val="bg1"/>
              </a:solidFill>
            </a:endParaRPr>
          </a:p>
        </p:txBody>
      </p:sp>
      <p:pic>
        <p:nvPicPr>
          <p:cNvPr id="7" name="Imagem 6">
            <a:extLst>
              <a:ext uri="{FF2B5EF4-FFF2-40B4-BE49-F238E27FC236}">
                <a16:creationId xmlns:a16="http://schemas.microsoft.com/office/drawing/2014/main" id="{9CFDF03B-E174-A73E-8DE7-43817D325B7C}"/>
              </a:ext>
            </a:extLst>
          </p:cNvPr>
          <p:cNvPicPr>
            <a:picLocks noChangeAspect="1"/>
          </p:cNvPicPr>
          <p:nvPr/>
        </p:nvPicPr>
        <p:blipFill>
          <a:blip r:embed="rId2"/>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916436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a:extLst>
              <a:ext uri="{FF2B5EF4-FFF2-40B4-BE49-F238E27FC236}">
                <a16:creationId xmlns:a16="http://schemas.microsoft.com/office/drawing/2014/main" id="{80A154CE-B4CC-EF10-7B84-0D37865644E0}"/>
              </a:ext>
            </a:extLst>
          </p:cNvPr>
          <p:cNvSpPr>
            <a:spLocks noGrp="1"/>
          </p:cNvSpPr>
          <p:nvPr>
            <p:ph type="title"/>
          </p:nvPr>
        </p:nvSpPr>
        <p:spPr>
          <a:xfrm>
            <a:off x="874815" y="798703"/>
            <a:ext cx="5221185" cy="3072015"/>
          </a:xfrm>
        </p:spPr>
        <p:txBody>
          <a:bodyPr vert="horz" lIns="91440" tIns="45720" rIns="91440" bIns="45720" rtlCol="0" anchor="b">
            <a:normAutofit/>
          </a:bodyPr>
          <a:lstStyle/>
          <a:p>
            <a:pPr algn="ctr"/>
            <a:r>
              <a:rPr lang="en-US" sz="6000" kern="1200" dirty="0" err="1">
                <a:solidFill>
                  <a:schemeClr val="bg1"/>
                </a:solidFill>
                <a:latin typeface="+mj-lt"/>
                <a:ea typeface="+mj-ea"/>
                <a:cs typeface="+mj-cs"/>
              </a:rPr>
              <a:t>Exemplo</a:t>
            </a:r>
            <a:endParaRPr lang="en-US" sz="6000" kern="1200" dirty="0">
              <a:solidFill>
                <a:schemeClr val="bg1"/>
              </a:solidFill>
              <a:latin typeface="+mj-lt"/>
              <a:ea typeface="+mj-ea"/>
              <a:cs typeface="+mj-cs"/>
            </a:endParaRPr>
          </a:p>
        </p:txBody>
      </p:sp>
      <p:sp>
        <p:nvSpPr>
          <p:cNvPr id="12" name="Freeform: Shape 11">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Imagem 4">
            <a:extLst>
              <a:ext uri="{FF2B5EF4-FFF2-40B4-BE49-F238E27FC236}">
                <a16:creationId xmlns:a16="http://schemas.microsoft.com/office/drawing/2014/main" id="{D7F80415-1721-927C-8AE6-D3279C13E51D}"/>
              </a:ext>
            </a:extLst>
          </p:cNvPr>
          <p:cNvPicPr>
            <a:picLocks noChangeAspect="1"/>
          </p:cNvPicPr>
          <p:nvPr/>
        </p:nvPicPr>
        <p:blipFill>
          <a:blip r:embed="rId2"/>
          <a:stretch>
            <a:fillRect/>
          </a:stretch>
        </p:blipFill>
        <p:spPr>
          <a:xfrm>
            <a:off x="6420736" y="769480"/>
            <a:ext cx="4997174" cy="5138483"/>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16" name="Freeform: Shape 15">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21">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pic>
        <p:nvPicPr>
          <p:cNvPr id="8" name="Imagem 7">
            <a:extLst>
              <a:ext uri="{FF2B5EF4-FFF2-40B4-BE49-F238E27FC236}">
                <a16:creationId xmlns:a16="http://schemas.microsoft.com/office/drawing/2014/main" id="{87C75713-AC11-73E6-6892-951A92B082EB}"/>
              </a:ext>
            </a:extLst>
          </p:cNvPr>
          <p:cNvPicPr>
            <a:picLocks noChangeAspect="1"/>
          </p:cNvPicPr>
          <p:nvPr/>
        </p:nvPicPr>
        <p:blipFill>
          <a:blip r:embed="rId3"/>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3310149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42" name="Rectangle 36">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a:extLst>
              <a:ext uri="{FF2B5EF4-FFF2-40B4-BE49-F238E27FC236}">
                <a16:creationId xmlns:a16="http://schemas.microsoft.com/office/drawing/2014/main" id="{80A154CE-B4CC-EF10-7B84-0D37865644E0}"/>
              </a:ext>
            </a:extLst>
          </p:cNvPr>
          <p:cNvSpPr>
            <a:spLocks noGrp="1"/>
          </p:cNvSpPr>
          <p:nvPr>
            <p:ph type="title"/>
          </p:nvPr>
        </p:nvSpPr>
        <p:spPr>
          <a:xfrm>
            <a:off x="838200" y="365125"/>
            <a:ext cx="5393361" cy="1325563"/>
          </a:xfrm>
        </p:spPr>
        <p:txBody>
          <a:bodyPr>
            <a:normAutofit/>
          </a:bodyPr>
          <a:lstStyle/>
          <a:p>
            <a:r>
              <a:rPr lang="pt-BR" sz="2800" dirty="0">
                <a:solidFill>
                  <a:schemeClr val="bg1"/>
                </a:solidFill>
              </a:rPr>
              <a:t>Identificando a tabela</a:t>
            </a:r>
            <a:br>
              <a:rPr lang="pt-BR" sz="2800" dirty="0">
                <a:solidFill>
                  <a:schemeClr val="bg1"/>
                </a:solidFill>
              </a:rPr>
            </a:br>
            <a:br>
              <a:rPr lang="pt-BR" sz="2800" dirty="0">
                <a:solidFill>
                  <a:schemeClr val="bg1"/>
                </a:solidFill>
              </a:rPr>
            </a:br>
            <a:endParaRPr lang="pt-BR" sz="2800" dirty="0">
              <a:solidFill>
                <a:schemeClr val="bg1"/>
              </a:solidFill>
            </a:endParaRPr>
          </a:p>
        </p:txBody>
      </p:sp>
      <p:sp>
        <p:nvSpPr>
          <p:cNvPr id="44" name="Freeform: Shape 38">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Espaço Reservado para Conteúdo 2">
            <a:extLst>
              <a:ext uri="{FF2B5EF4-FFF2-40B4-BE49-F238E27FC236}">
                <a16:creationId xmlns:a16="http://schemas.microsoft.com/office/drawing/2014/main" id="{3725D282-F7F5-9BEA-5242-87A9B0D57091}"/>
              </a:ext>
            </a:extLst>
          </p:cNvPr>
          <p:cNvSpPr>
            <a:spLocks noGrp="1"/>
          </p:cNvSpPr>
          <p:nvPr>
            <p:ph idx="1"/>
          </p:nvPr>
        </p:nvSpPr>
        <p:spPr>
          <a:xfrm>
            <a:off x="838200" y="1825625"/>
            <a:ext cx="5393361" cy="4351338"/>
          </a:xfrm>
        </p:spPr>
        <p:txBody>
          <a:bodyPr>
            <a:normAutofit/>
          </a:bodyPr>
          <a:lstStyle/>
          <a:p>
            <a:pPr marL="0" indent="0" algn="just">
              <a:buNone/>
            </a:pPr>
            <a:r>
              <a:rPr lang="pt-BR" dirty="0">
                <a:solidFill>
                  <a:schemeClr val="bg1"/>
                </a:solidFill>
              </a:rPr>
              <a:t>Para identificar a tabela em consultas SQL, você pode utilizar a cláusula FROM, que especifica a tabela da qual você está selecionando dados</a:t>
            </a:r>
          </a:p>
        </p:txBody>
      </p:sp>
      <p:sp>
        <p:nvSpPr>
          <p:cNvPr id="41" name="Oval 40">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m 5">
            <a:extLst>
              <a:ext uri="{FF2B5EF4-FFF2-40B4-BE49-F238E27FC236}">
                <a16:creationId xmlns:a16="http://schemas.microsoft.com/office/drawing/2014/main" id="{137716CB-7D2C-0C08-A7E1-616354982CD4}"/>
              </a:ext>
            </a:extLst>
          </p:cNvPr>
          <p:cNvPicPr>
            <a:picLocks noChangeAspect="1"/>
          </p:cNvPicPr>
          <p:nvPr/>
        </p:nvPicPr>
        <p:blipFill>
          <a:blip r:embed="rId2"/>
          <a:stretch>
            <a:fillRect/>
          </a:stretch>
        </p:blipFill>
        <p:spPr>
          <a:xfrm>
            <a:off x="6998594" y="1337987"/>
            <a:ext cx="4789159" cy="4226432"/>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43" name="Freeform: Shape 42">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45" name="Straight Connector 44">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7" name="Freeform: Shape 46">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pic>
        <p:nvPicPr>
          <p:cNvPr id="8" name="Imagem 7">
            <a:extLst>
              <a:ext uri="{FF2B5EF4-FFF2-40B4-BE49-F238E27FC236}">
                <a16:creationId xmlns:a16="http://schemas.microsoft.com/office/drawing/2014/main" id="{7EA77AC2-955E-7354-04EC-65BA41656EBE}"/>
              </a:ext>
            </a:extLst>
          </p:cNvPr>
          <p:cNvPicPr>
            <a:picLocks noChangeAspect="1"/>
          </p:cNvPicPr>
          <p:nvPr/>
        </p:nvPicPr>
        <p:blipFill>
          <a:blip r:embed="rId3"/>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2030198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ítulo 1">
            <a:extLst>
              <a:ext uri="{FF2B5EF4-FFF2-40B4-BE49-F238E27FC236}">
                <a16:creationId xmlns:a16="http://schemas.microsoft.com/office/drawing/2014/main" id="{80A154CE-B4CC-EF10-7B84-0D37865644E0}"/>
              </a:ext>
            </a:extLst>
          </p:cNvPr>
          <p:cNvSpPr>
            <a:spLocks noGrp="1"/>
          </p:cNvSpPr>
          <p:nvPr>
            <p:ph type="title"/>
          </p:nvPr>
        </p:nvSpPr>
        <p:spPr>
          <a:xfrm>
            <a:off x="874815" y="798703"/>
            <a:ext cx="5221185" cy="3072015"/>
          </a:xfrm>
        </p:spPr>
        <p:txBody>
          <a:bodyPr vert="horz" lIns="91440" tIns="45720" rIns="91440" bIns="45720" rtlCol="0" anchor="b">
            <a:normAutofit/>
          </a:bodyPr>
          <a:lstStyle/>
          <a:p>
            <a:pPr algn="ctr"/>
            <a:r>
              <a:rPr lang="en-US" sz="6000" kern="1200" dirty="0" err="1">
                <a:solidFill>
                  <a:schemeClr val="bg1"/>
                </a:solidFill>
                <a:latin typeface="+mj-lt"/>
                <a:ea typeface="+mj-ea"/>
                <a:cs typeface="+mj-cs"/>
              </a:rPr>
              <a:t>Dúvidas</a:t>
            </a:r>
            <a:r>
              <a:rPr lang="en-US" sz="6000" kern="1200" dirty="0">
                <a:solidFill>
                  <a:schemeClr val="bg1"/>
                </a:solidFill>
                <a:latin typeface="+mj-lt"/>
                <a:ea typeface="+mj-ea"/>
                <a:cs typeface="+mj-cs"/>
              </a:rPr>
              <a:t>?</a:t>
            </a:r>
          </a:p>
        </p:txBody>
      </p:sp>
      <p:sp>
        <p:nvSpPr>
          <p:cNvPr id="28" name="Freeform: Shape 27">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Freeform: Shape 31">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pic>
        <p:nvPicPr>
          <p:cNvPr id="5" name="Imagem 4">
            <a:extLst>
              <a:ext uri="{FF2B5EF4-FFF2-40B4-BE49-F238E27FC236}">
                <a16:creationId xmlns:a16="http://schemas.microsoft.com/office/drawing/2014/main" id="{403B0E24-2985-1C83-31BA-4E31B2503AFC}"/>
              </a:ext>
            </a:extLst>
          </p:cNvPr>
          <p:cNvPicPr>
            <a:picLocks noChangeAspect="1"/>
          </p:cNvPicPr>
          <p:nvPr/>
        </p:nvPicPr>
        <p:blipFill>
          <a:blip r:embed="rId2"/>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1541061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0A154CE-B4CC-EF10-7B84-0D37865644E0}"/>
              </a:ext>
            </a:extLst>
          </p:cNvPr>
          <p:cNvSpPr>
            <a:spLocks noGrp="1"/>
          </p:cNvSpPr>
          <p:nvPr>
            <p:ph type="title"/>
          </p:nvPr>
        </p:nvSpPr>
        <p:spPr>
          <a:xfrm>
            <a:off x="4654296" y="640080"/>
            <a:ext cx="6894576" cy="3566160"/>
          </a:xfrm>
        </p:spPr>
        <p:txBody>
          <a:bodyPr vert="horz" lIns="91440" tIns="45720" rIns="91440" bIns="45720" rtlCol="0" anchor="b">
            <a:normAutofit/>
          </a:bodyPr>
          <a:lstStyle/>
          <a:p>
            <a:r>
              <a:rPr lang="en-US" sz="6600" dirty="0" err="1">
                <a:solidFill>
                  <a:srgbClr val="FF0066"/>
                </a:solidFill>
              </a:rPr>
              <a:t>Exercícios</a:t>
            </a:r>
            <a:endParaRPr lang="en-US" sz="6600" dirty="0">
              <a:solidFill>
                <a:srgbClr val="FF0066"/>
              </a:solidFill>
            </a:endParaRPr>
          </a:p>
        </p:txBody>
      </p:sp>
      <p:pic>
        <p:nvPicPr>
          <p:cNvPr id="4" name="Picture 3" descr="Kettlebells no chão">
            <a:extLst>
              <a:ext uri="{FF2B5EF4-FFF2-40B4-BE49-F238E27FC236}">
                <a16:creationId xmlns:a16="http://schemas.microsoft.com/office/drawing/2014/main" id="{348378A6-3814-6113-856E-C10CC72DC2B7}"/>
              </a:ext>
            </a:extLst>
          </p:cNvPr>
          <p:cNvPicPr>
            <a:picLocks noChangeAspect="1"/>
          </p:cNvPicPr>
          <p:nvPr/>
        </p:nvPicPr>
        <p:blipFill rotWithShape="1">
          <a:blip r:embed="rId2"/>
          <a:srcRect l="52300" r="8282" b="-1"/>
          <a:stretch/>
        </p:blipFill>
        <p:spPr>
          <a:xfrm>
            <a:off x="20" y="10"/>
            <a:ext cx="4049786" cy="6857990"/>
          </a:xfrm>
          <a:custGeom>
            <a:avLst/>
            <a:gdLst/>
            <a:ahLst/>
            <a:cxnLst/>
            <a:rect l="l" t="t" r="r" b="b"/>
            <a:pathLst>
              <a:path w="4049806" h="6858000">
                <a:moveTo>
                  <a:pt x="0" y="0"/>
                </a:moveTo>
                <a:lnTo>
                  <a:pt x="4018525" y="0"/>
                </a:lnTo>
                <a:lnTo>
                  <a:pt x="4019816" y="10931"/>
                </a:lnTo>
                <a:cubicBezTo>
                  <a:pt x="4034945" y="94836"/>
                  <a:pt x="4032275" y="179884"/>
                  <a:pt x="4036343" y="264297"/>
                </a:cubicBezTo>
                <a:cubicBezTo>
                  <a:pt x="4041301" y="367652"/>
                  <a:pt x="4035072" y="471135"/>
                  <a:pt x="4032911" y="574617"/>
                </a:cubicBezTo>
                <a:cubicBezTo>
                  <a:pt x="4031004" y="662717"/>
                  <a:pt x="4022232" y="750690"/>
                  <a:pt x="4025029" y="838916"/>
                </a:cubicBezTo>
                <a:cubicBezTo>
                  <a:pt x="4025029" y="841968"/>
                  <a:pt x="4025029" y="845019"/>
                  <a:pt x="4025029" y="848070"/>
                </a:cubicBezTo>
                <a:cubicBezTo>
                  <a:pt x="4017020" y="945068"/>
                  <a:pt x="4017020" y="1042576"/>
                  <a:pt x="4025029" y="1139574"/>
                </a:cubicBezTo>
                <a:cubicBezTo>
                  <a:pt x="4027609" y="1179950"/>
                  <a:pt x="4026885" y="1220466"/>
                  <a:pt x="4022868" y="1260728"/>
                </a:cubicBezTo>
                <a:cubicBezTo>
                  <a:pt x="4019054" y="1311960"/>
                  <a:pt x="4006849" y="1364083"/>
                  <a:pt x="4015621" y="1414934"/>
                </a:cubicBezTo>
                <a:cubicBezTo>
                  <a:pt x="4021367" y="1456784"/>
                  <a:pt x="4024558" y="1498940"/>
                  <a:pt x="4025156" y="1541172"/>
                </a:cubicBezTo>
                <a:cubicBezTo>
                  <a:pt x="4029478" y="1635755"/>
                  <a:pt x="4025283" y="1730847"/>
                  <a:pt x="4023757" y="1825685"/>
                </a:cubicBezTo>
                <a:cubicBezTo>
                  <a:pt x="4021850" y="1936286"/>
                  <a:pt x="4024647" y="2046634"/>
                  <a:pt x="4015748" y="2157235"/>
                </a:cubicBezTo>
                <a:cubicBezTo>
                  <a:pt x="4010790" y="2246581"/>
                  <a:pt x="4010790" y="2336130"/>
                  <a:pt x="4015748" y="2425476"/>
                </a:cubicBezTo>
                <a:cubicBezTo>
                  <a:pt x="4018164" y="2507473"/>
                  <a:pt x="4030495" y="2588454"/>
                  <a:pt x="4028461" y="2671214"/>
                </a:cubicBezTo>
                <a:cubicBezTo>
                  <a:pt x="4026046" y="2767832"/>
                  <a:pt x="4014604" y="2863940"/>
                  <a:pt x="4018164" y="2960685"/>
                </a:cubicBezTo>
                <a:cubicBezTo>
                  <a:pt x="4019816" y="3006832"/>
                  <a:pt x="4019944" y="3052980"/>
                  <a:pt x="4020961" y="3099127"/>
                </a:cubicBezTo>
                <a:cubicBezTo>
                  <a:pt x="4021978" y="3154682"/>
                  <a:pt x="4032021" y="3210110"/>
                  <a:pt x="4026427" y="3265665"/>
                </a:cubicBezTo>
                <a:cubicBezTo>
                  <a:pt x="4017147" y="3358087"/>
                  <a:pt x="3993120" y="3448857"/>
                  <a:pt x="4008121" y="3543567"/>
                </a:cubicBezTo>
                <a:cubicBezTo>
                  <a:pt x="4016384" y="3595690"/>
                  <a:pt x="4025791" y="3647940"/>
                  <a:pt x="4030495" y="3700571"/>
                </a:cubicBezTo>
                <a:cubicBezTo>
                  <a:pt x="4034690" y="3747608"/>
                  <a:pt x="4045369" y="3795408"/>
                  <a:pt x="4037233" y="3842191"/>
                </a:cubicBezTo>
                <a:cubicBezTo>
                  <a:pt x="4030368" y="3882237"/>
                  <a:pt x="4034055" y="3922282"/>
                  <a:pt x="4028715" y="3962327"/>
                </a:cubicBezTo>
                <a:cubicBezTo>
                  <a:pt x="4021723" y="4014831"/>
                  <a:pt x="4017910" y="4068352"/>
                  <a:pt x="4012697" y="4121111"/>
                </a:cubicBezTo>
                <a:cubicBezTo>
                  <a:pt x="4007866" y="4169038"/>
                  <a:pt x="4004307" y="4216838"/>
                  <a:pt x="4017020" y="4261841"/>
                </a:cubicBezTo>
                <a:cubicBezTo>
                  <a:pt x="4048039" y="4375112"/>
                  <a:pt x="4031004" y="4487748"/>
                  <a:pt x="4019308" y="4600257"/>
                </a:cubicBezTo>
                <a:cubicBezTo>
                  <a:pt x="4013587" y="4655049"/>
                  <a:pt x="4005197" y="4712765"/>
                  <a:pt x="4017910" y="4762853"/>
                </a:cubicBezTo>
                <a:cubicBezTo>
                  <a:pt x="4041428" y="4851716"/>
                  <a:pt x="4022995" y="4936764"/>
                  <a:pt x="4012824" y="5021432"/>
                </a:cubicBezTo>
                <a:cubicBezTo>
                  <a:pt x="4002654" y="5106099"/>
                  <a:pt x="4000239" y="5189495"/>
                  <a:pt x="4018037" y="5272637"/>
                </a:cubicBezTo>
                <a:cubicBezTo>
                  <a:pt x="4030495" y="5331116"/>
                  <a:pt x="4030495" y="5390612"/>
                  <a:pt x="4032021" y="5449600"/>
                </a:cubicBezTo>
                <a:cubicBezTo>
                  <a:pt x="4032911" y="5486339"/>
                  <a:pt x="4019308" y="5523842"/>
                  <a:pt x="4010282" y="5560582"/>
                </a:cubicBezTo>
                <a:cubicBezTo>
                  <a:pt x="3994009" y="5626943"/>
                  <a:pt x="3988162" y="5694321"/>
                  <a:pt x="4010282" y="5759029"/>
                </a:cubicBezTo>
                <a:cubicBezTo>
                  <a:pt x="4040793" y="5848655"/>
                  <a:pt x="4058336" y="5938407"/>
                  <a:pt x="4045623" y="6033117"/>
                </a:cubicBezTo>
                <a:cubicBezTo>
                  <a:pt x="4038377" y="6091724"/>
                  <a:pt x="4036597" y="6151347"/>
                  <a:pt x="4025664" y="6209190"/>
                </a:cubicBezTo>
                <a:cubicBezTo>
                  <a:pt x="4007358" y="6304790"/>
                  <a:pt x="4013841" y="6399882"/>
                  <a:pt x="4028461" y="6494211"/>
                </a:cubicBezTo>
                <a:cubicBezTo>
                  <a:pt x="4038542" y="6573081"/>
                  <a:pt x="4039610" y="6652829"/>
                  <a:pt x="4031639" y="6731941"/>
                </a:cubicBezTo>
                <a:lnTo>
                  <a:pt x="4022913" y="6858000"/>
                </a:lnTo>
                <a:lnTo>
                  <a:pt x="0" y="6858000"/>
                </a:lnTo>
                <a:close/>
              </a:path>
            </a:pathLst>
          </a:custGeom>
        </p:spPr>
      </p:pic>
      <p:sp>
        <p:nvSpPr>
          <p:cNvPr id="10" name="sketchy line">
            <a:extLst>
              <a:ext uri="{FF2B5EF4-FFF2-40B4-BE49-F238E27FC236}">
                <a16:creationId xmlns:a16="http://schemas.microsoft.com/office/drawing/2014/main" id="{82580482-BA80-420A-8A05-C58E97F2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4409267"/>
            <a:ext cx="4242816" cy="18288"/>
          </a:xfrm>
          <a:custGeom>
            <a:avLst/>
            <a:gdLst>
              <a:gd name="connsiteX0" fmla="*/ 0 w 4242816"/>
              <a:gd name="connsiteY0" fmla="*/ 0 h 18288"/>
              <a:gd name="connsiteX1" fmla="*/ 690973 w 4242816"/>
              <a:gd name="connsiteY1" fmla="*/ 0 h 18288"/>
              <a:gd name="connsiteX2" fmla="*/ 1212233 w 4242816"/>
              <a:gd name="connsiteY2" fmla="*/ 0 h 18288"/>
              <a:gd name="connsiteX3" fmla="*/ 1860778 w 4242816"/>
              <a:gd name="connsiteY3" fmla="*/ 0 h 18288"/>
              <a:gd name="connsiteX4" fmla="*/ 2424466 w 4242816"/>
              <a:gd name="connsiteY4" fmla="*/ 0 h 18288"/>
              <a:gd name="connsiteX5" fmla="*/ 3115439 w 4242816"/>
              <a:gd name="connsiteY5" fmla="*/ 0 h 18288"/>
              <a:gd name="connsiteX6" fmla="*/ 3636699 w 4242816"/>
              <a:gd name="connsiteY6" fmla="*/ 0 h 18288"/>
              <a:gd name="connsiteX7" fmla="*/ 4242816 w 4242816"/>
              <a:gd name="connsiteY7" fmla="*/ 0 h 18288"/>
              <a:gd name="connsiteX8" fmla="*/ 4242816 w 4242816"/>
              <a:gd name="connsiteY8" fmla="*/ 18288 h 18288"/>
              <a:gd name="connsiteX9" fmla="*/ 3636699 w 4242816"/>
              <a:gd name="connsiteY9" fmla="*/ 18288 h 18288"/>
              <a:gd name="connsiteX10" fmla="*/ 3030583 w 4242816"/>
              <a:gd name="connsiteY10" fmla="*/ 18288 h 18288"/>
              <a:gd name="connsiteX11" fmla="*/ 2466894 w 4242816"/>
              <a:gd name="connsiteY11" fmla="*/ 18288 h 18288"/>
              <a:gd name="connsiteX12" fmla="*/ 1988062 w 4242816"/>
              <a:gd name="connsiteY12" fmla="*/ 18288 h 18288"/>
              <a:gd name="connsiteX13" fmla="*/ 1466802 w 4242816"/>
              <a:gd name="connsiteY13" fmla="*/ 18288 h 18288"/>
              <a:gd name="connsiteX14" fmla="*/ 860686 w 4242816"/>
              <a:gd name="connsiteY14" fmla="*/ 18288 h 18288"/>
              <a:gd name="connsiteX15" fmla="*/ 0 w 4242816"/>
              <a:gd name="connsiteY15" fmla="*/ 18288 h 18288"/>
              <a:gd name="connsiteX16" fmla="*/ 0 w 4242816"/>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2816" h="18288" fill="none" extrusionOk="0">
                <a:moveTo>
                  <a:pt x="0" y="0"/>
                </a:moveTo>
                <a:cubicBezTo>
                  <a:pt x="249934" y="1471"/>
                  <a:pt x="379877" y="-29444"/>
                  <a:pt x="690973" y="0"/>
                </a:cubicBezTo>
                <a:cubicBezTo>
                  <a:pt x="1002069" y="29444"/>
                  <a:pt x="1021583" y="17501"/>
                  <a:pt x="1212233" y="0"/>
                </a:cubicBezTo>
                <a:cubicBezTo>
                  <a:pt x="1402883" y="-17501"/>
                  <a:pt x="1678760" y="5386"/>
                  <a:pt x="1860778" y="0"/>
                </a:cubicBezTo>
                <a:cubicBezTo>
                  <a:pt x="2042796" y="-5386"/>
                  <a:pt x="2245608" y="-22401"/>
                  <a:pt x="2424466" y="0"/>
                </a:cubicBezTo>
                <a:cubicBezTo>
                  <a:pt x="2603324" y="22401"/>
                  <a:pt x="2890020" y="33806"/>
                  <a:pt x="3115439" y="0"/>
                </a:cubicBezTo>
                <a:cubicBezTo>
                  <a:pt x="3340858" y="-33806"/>
                  <a:pt x="3428300" y="18628"/>
                  <a:pt x="3636699" y="0"/>
                </a:cubicBezTo>
                <a:cubicBezTo>
                  <a:pt x="3845098" y="-18628"/>
                  <a:pt x="4108824" y="5541"/>
                  <a:pt x="4242816" y="0"/>
                </a:cubicBezTo>
                <a:cubicBezTo>
                  <a:pt x="4242066" y="4160"/>
                  <a:pt x="4243125" y="10356"/>
                  <a:pt x="4242816" y="18288"/>
                </a:cubicBezTo>
                <a:cubicBezTo>
                  <a:pt x="4113424" y="32735"/>
                  <a:pt x="3768327" y="47567"/>
                  <a:pt x="3636699" y="18288"/>
                </a:cubicBezTo>
                <a:cubicBezTo>
                  <a:pt x="3505071" y="-10991"/>
                  <a:pt x="3294208" y="-4990"/>
                  <a:pt x="3030583" y="18288"/>
                </a:cubicBezTo>
                <a:cubicBezTo>
                  <a:pt x="2766958" y="41566"/>
                  <a:pt x="2649277" y="20974"/>
                  <a:pt x="2466894" y="18288"/>
                </a:cubicBezTo>
                <a:cubicBezTo>
                  <a:pt x="2284511" y="15602"/>
                  <a:pt x="2151277" y="1154"/>
                  <a:pt x="1988062" y="18288"/>
                </a:cubicBezTo>
                <a:cubicBezTo>
                  <a:pt x="1824847" y="35422"/>
                  <a:pt x="1691359" y="9265"/>
                  <a:pt x="1466802" y="18288"/>
                </a:cubicBezTo>
                <a:cubicBezTo>
                  <a:pt x="1242245" y="27311"/>
                  <a:pt x="1006161" y="36605"/>
                  <a:pt x="860686" y="18288"/>
                </a:cubicBezTo>
                <a:cubicBezTo>
                  <a:pt x="715211" y="-29"/>
                  <a:pt x="242774" y="46538"/>
                  <a:pt x="0" y="18288"/>
                </a:cubicBezTo>
                <a:cubicBezTo>
                  <a:pt x="-146" y="11482"/>
                  <a:pt x="-422" y="5192"/>
                  <a:pt x="0" y="0"/>
                </a:cubicBezTo>
                <a:close/>
              </a:path>
              <a:path w="4242816" h="18288" stroke="0" extrusionOk="0">
                <a:moveTo>
                  <a:pt x="0" y="0"/>
                </a:moveTo>
                <a:cubicBezTo>
                  <a:pt x="259751" y="-14018"/>
                  <a:pt x="356632" y="-15007"/>
                  <a:pt x="521260" y="0"/>
                </a:cubicBezTo>
                <a:cubicBezTo>
                  <a:pt x="685888" y="15007"/>
                  <a:pt x="885786" y="5167"/>
                  <a:pt x="1212233" y="0"/>
                </a:cubicBezTo>
                <a:cubicBezTo>
                  <a:pt x="1538680" y="-5167"/>
                  <a:pt x="1458849" y="7951"/>
                  <a:pt x="1691065" y="0"/>
                </a:cubicBezTo>
                <a:cubicBezTo>
                  <a:pt x="1923281" y="-7951"/>
                  <a:pt x="1985780" y="-16303"/>
                  <a:pt x="2169897" y="0"/>
                </a:cubicBezTo>
                <a:cubicBezTo>
                  <a:pt x="2354014" y="16303"/>
                  <a:pt x="2633054" y="-2739"/>
                  <a:pt x="2776014" y="0"/>
                </a:cubicBezTo>
                <a:cubicBezTo>
                  <a:pt x="2918974" y="2739"/>
                  <a:pt x="3112688" y="-15682"/>
                  <a:pt x="3339702" y="0"/>
                </a:cubicBezTo>
                <a:cubicBezTo>
                  <a:pt x="3566716" y="15682"/>
                  <a:pt x="4015278" y="-28467"/>
                  <a:pt x="4242816" y="0"/>
                </a:cubicBezTo>
                <a:cubicBezTo>
                  <a:pt x="4243501" y="7633"/>
                  <a:pt x="4242294" y="10002"/>
                  <a:pt x="4242816" y="18288"/>
                </a:cubicBezTo>
                <a:cubicBezTo>
                  <a:pt x="3924964" y="16283"/>
                  <a:pt x="3746362" y="-1805"/>
                  <a:pt x="3551843" y="18288"/>
                </a:cubicBezTo>
                <a:cubicBezTo>
                  <a:pt x="3357324" y="38381"/>
                  <a:pt x="3126422" y="47156"/>
                  <a:pt x="2860870" y="18288"/>
                </a:cubicBezTo>
                <a:cubicBezTo>
                  <a:pt x="2595318" y="-10580"/>
                  <a:pt x="2572437" y="11441"/>
                  <a:pt x="2297182" y="18288"/>
                </a:cubicBezTo>
                <a:cubicBezTo>
                  <a:pt x="2021927" y="25135"/>
                  <a:pt x="1916908" y="33601"/>
                  <a:pt x="1733493" y="18288"/>
                </a:cubicBezTo>
                <a:cubicBezTo>
                  <a:pt x="1550078" y="2975"/>
                  <a:pt x="1412440" y="27896"/>
                  <a:pt x="1212233" y="18288"/>
                </a:cubicBezTo>
                <a:cubicBezTo>
                  <a:pt x="1012026" y="8680"/>
                  <a:pt x="914386" y="13859"/>
                  <a:pt x="648545" y="18288"/>
                </a:cubicBezTo>
                <a:cubicBezTo>
                  <a:pt x="382704" y="22717"/>
                  <a:pt x="233522" y="39342"/>
                  <a:pt x="0" y="18288"/>
                </a:cubicBezTo>
                <a:cubicBezTo>
                  <a:pt x="-772" y="13661"/>
                  <a:pt x="-839" y="849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m 5">
            <a:extLst>
              <a:ext uri="{FF2B5EF4-FFF2-40B4-BE49-F238E27FC236}">
                <a16:creationId xmlns:a16="http://schemas.microsoft.com/office/drawing/2014/main" id="{CDF748A1-2F5A-E529-1B4E-C8BFDD694827}"/>
              </a:ext>
            </a:extLst>
          </p:cNvPr>
          <p:cNvPicPr>
            <a:picLocks noChangeAspect="1"/>
          </p:cNvPicPr>
          <p:nvPr/>
        </p:nvPicPr>
        <p:blipFill>
          <a:blip r:embed="rId3"/>
          <a:stretch>
            <a:fillRect/>
          </a:stretch>
        </p:blipFill>
        <p:spPr>
          <a:xfrm>
            <a:off x="298201" y="292336"/>
            <a:ext cx="11595597" cy="6273328"/>
          </a:xfrm>
          <a:prstGeom prst="rect">
            <a:avLst/>
          </a:prstGeom>
        </p:spPr>
      </p:pic>
    </p:spTree>
    <p:extLst>
      <p:ext uri="{BB962C8B-B14F-4D97-AF65-F5344CB8AC3E}">
        <p14:creationId xmlns:p14="http://schemas.microsoft.com/office/powerpoint/2010/main" val="201723600"/>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5E8FFB4BADE9C4AA27420827F0B6B02" ma:contentTypeVersion="12" ma:contentTypeDescription="Crie um novo documento." ma:contentTypeScope="" ma:versionID="8eda228dbfb4ebf69b34bd2605e74849">
  <xsd:schema xmlns:xsd="http://www.w3.org/2001/XMLSchema" xmlns:xs="http://www.w3.org/2001/XMLSchema" xmlns:p="http://schemas.microsoft.com/office/2006/metadata/properties" xmlns:ns3="3c1dc2a5-f87b-4340-a568-c485be23fc77" xmlns:ns4="2252625f-9dae-43d1-b737-452d42f6f3f1" targetNamespace="http://schemas.microsoft.com/office/2006/metadata/properties" ma:root="true" ma:fieldsID="56d0fa646dc12c2cd39f9dcc7254de8d" ns3:_="" ns4:_="">
    <xsd:import namespace="3c1dc2a5-f87b-4340-a568-c485be23fc77"/>
    <xsd:import namespace="2252625f-9dae-43d1-b737-452d42f6f3f1"/>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1dc2a5-f87b-4340-a568-c485be23fc7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252625f-9dae-43d1-b737-452d42f6f3f1" elementFormDefault="qualified">
    <xsd:import namespace="http://schemas.microsoft.com/office/2006/documentManagement/types"/>
    <xsd:import namespace="http://schemas.microsoft.com/office/infopath/2007/PartnerControls"/>
    <xsd:element name="SharedWithUsers" ma:index="11"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talhes de Compartilhado Com" ma:internalName="SharedWithDetails" ma:readOnly="true">
      <xsd:simpleType>
        <xsd:restriction base="dms:Note">
          <xsd:maxLength value="255"/>
        </xsd:restriction>
      </xsd:simpleType>
    </xsd:element>
    <xsd:element name="SharingHintHash" ma:index="13" nillable="true" ma:displayName="Hash de Dica de Compartilhamento"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c1dc2a5-f87b-4340-a568-c485be23fc77" xsi:nil="true"/>
  </documentManagement>
</p:properties>
</file>

<file path=customXml/itemProps1.xml><?xml version="1.0" encoding="utf-8"?>
<ds:datastoreItem xmlns:ds="http://schemas.openxmlformats.org/officeDocument/2006/customXml" ds:itemID="{E0E74045-4708-4748-8693-1A4D848509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c1dc2a5-f87b-4340-a568-c485be23fc77"/>
    <ds:schemaRef ds:uri="2252625f-9dae-43d1-b737-452d42f6f3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E034930-0169-4398-8631-693BDD990C47}">
  <ds:schemaRefs>
    <ds:schemaRef ds:uri="http://schemas.microsoft.com/sharepoint/v3/contenttype/forms"/>
  </ds:schemaRefs>
</ds:datastoreItem>
</file>

<file path=customXml/itemProps3.xml><?xml version="1.0" encoding="utf-8"?>
<ds:datastoreItem xmlns:ds="http://schemas.openxmlformats.org/officeDocument/2006/customXml" ds:itemID="{14A8F76F-F10E-43C8-B367-26CC5516DBA0}">
  <ds:schemaRefs>
    <ds:schemaRef ds:uri="http://purl.org/dc/dcmitype/"/>
    <ds:schemaRef ds:uri="http://purl.org/dc/terms/"/>
    <ds:schemaRef ds:uri="http://schemas.microsoft.com/office/2006/documentManagement/types"/>
    <ds:schemaRef ds:uri="3c1dc2a5-f87b-4340-a568-c485be23fc77"/>
    <ds:schemaRef ds:uri="http://purl.org/dc/elements/1.1/"/>
    <ds:schemaRef ds:uri="http://schemas.microsoft.com/office/infopath/2007/PartnerControls"/>
    <ds:schemaRef ds:uri="http://schemas.openxmlformats.org/package/2006/metadata/core-properties"/>
    <ds:schemaRef ds:uri="2252625f-9dae-43d1-b737-452d42f6f3f1"/>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95</TotalTime>
  <Words>536</Words>
  <Application>Microsoft Office PowerPoint</Application>
  <PresentationFormat>Widescreen</PresentationFormat>
  <Paragraphs>36</Paragraphs>
  <Slides>16</Slides>
  <Notes>2</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16</vt:i4>
      </vt:variant>
    </vt:vector>
  </HeadingPairs>
  <TitlesOfParts>
    <vt:vector size="24" baseType="lpstr">
      <vt:lpstr>Aptos</vt:lpstr>
      <vt:lpstr>Aptos Display</vt:lpstr>
      <vt:lpstr>Arial</vt:lpstr>
      <vt:lpstr>Calibri</vt:lpstr>
      <vt:lpstr>Courier New</vt:lpstr>
      <vt:lpstr>Google Sans</vt:lpstr>
      <vt:lpstr>Söhne</vt:lpstr>
      <vt:lpstr>Tema do Office</vt:lpstr>
      <vt:lpstr>Apresentação do PowerPoint</vt:lpstr>
      <vt:lpstr>Apresentação do PowerPoint</vt:lpstr>
      <vt:lpstr>AGENDA</vt:lpstr>
      <vt:lpstr>Definindo o objetivo </vt:lpstr>
      <vt:lpstr>Realizando consultas</vt:lpstr>
      <vt:lpstr>Apresentação do PowerPoint</vt:lpstr>
      <vt:lpstr>Pesquisar todas as linhas e colunas </vt:lpstr>
      <vt:lpstr>SELECT * FROM;</vt:lpstr>
      <vt:lpstr>EXEMPLO:</vt:lpstr>
      <vt:lpstr>Pesquisar colunas específicas</vt:lpstr>
      <vt:lpstr>EXEMPLO</vt:lpstr>
      <vt:lpstr>Pesquisar Linhas específicas</vt:lpstr>
      <vt:lpstr>Exemplo</vt:lpstr>
      <vt:lpstr>Identificando a tabela  </vt:lpstr>
      <vt:lpstr>Dúvidas?</vt:lpstr>
      <vt:lpstr>Exercícios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Vergílio Valério dos Santos</dc:creator>
  <cp:lastModifiedBy>Vergílio Valério dos Santos</cp:lastModifiedBy>
  <cp:revision>1</cp:revision>
  <dcterms:created xsi:type="dcterms:W3CDTF">2024-03-17T18:26:07Z</dcterms:created>
  <dcterms:modified xsi:type="dcterms:W3CDTF">2024-03-17T20:01:13Z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0x01010025E8FFB4BADE9C4AA27420827F0B6B02</vt:lpwstr>
  </property>
</Properties>
</file>